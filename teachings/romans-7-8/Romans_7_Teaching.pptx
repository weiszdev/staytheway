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8229600" cy="14630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7680960" cy="411480"/>
          </a:xfrm>
          <a:prstGeom prst="rect">
            <a:avLst/>
          </a:prstGeom>
          <a:noFill/>
        </p:spPr>
        <p:txBody>
          <a:bodyPr wrap="none" anchor="ctr">
            <a:spAutoFit/>
          </a:bodyPr>
          <a:lstStyle/>
          <a:p>
            <a:pPr algn="ctr"/>
            <a:r>
              <a:rPr sz="1600" b="1">
                <a:solidFill>
                  <a:srgbClr val="FFFFFF"/>
                </a:solidFill>
                <a:latin typeface="Arial"/>
              </a:rPr>
              <a:t>STAYTHEWAY MINISTRY</a:t>
            </a:r>
          </a:p>
        </p:txBody>
      </p:sp>
      <p:sp>
        <p:nvSpPr>
          <p:cNvPr id="5" name="TextBox 4"/>
          <p:cNvSpPr txBox="1"/>
          <p:nvPr/>
        </p:nvSpPr>
        <p:spPr>
          <a:xfrm>
            <a:off x="457200" y="1097280"/>
            <a:ext cx="7315200" cy="3657600"/>
          </a:xfrm>
          <a:prstGeom prst="rect">
            <a:avLst/>
          </a:prstGeom>
          <a:noFill/>
        </p:spPr>
        <p:txBody>
          <a:bodyPr wrap="square">
            <a:spAutoFit/>
          </a:bodyPr>
          <a:lstStyle/>
          <a:p>
            <a:pPr algn="ctr"/>
            <a:r>
              <a:rPr sz="7200" b="1">
                <a:solidFill>
                  <a:srgbClr val="FFFFFF"/>
                </a:solidFill>
                <a:latin typeface="Georgia"/>
              </a:rPr>
              <a:t>Romans 7</a:t>
            </a:r>
          </a:p>
          <a:p>
            <a:pPr algn="ctr">
              <a:spcBef>
                <a:spcPts val="800"/>
              </a:spcBef>
            </a:pPr>
            <a:r>
              <a:rPr sz="3000" i="1" b="1">
                <a:solidFill>
                  <a:srgbClr val="28A0F0"/>
                </a:solidFill>
                <a:latin typeface="Georgia"/>
              </a:rPr>
              <a:t>The Struggle Under the Law</a:t>
            </a:r>
          </a:p>
        </p:txBody>
      </p:sp>
      <p:sp>
        <p:nvSpPr>
          <p:cNvPr id="6" name="Rounded Rectangle 5"/>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7" name="TextBox 6"/>
          <p:cNvSpPr txBox="1"/>
          <p:nvPr/>
        </p:nvSpPr>
        <p:spPr>
          <a:xfrm>
            <a:off x="548640" y="10241280"/>
            <a:ext cx="7132320" cy="3200400"/>
          </a:xfrm>
          <a:prstGeom prst="rect">
            <a:avLst/>
          </a:prstGeom>
          <a:noFill/>
        </p:spPr>
        <p:txBody>
          <a:bodyPr wrap="square">
            <a:spAutoFit/>
          </a:bodyPr>
          <a:lstStyle/>
          <a:p>
            <a:pPr algn="ctr"/>
            <a:r>
              <a:rPr sz="2400" i="1" b="1">
                <a:solidFill>
                  <a:srgbClr val="DCDCDC"/>
                </a:solidFill>
                <a:latin typeface="Georgia"/>
              </a:rPr>
              <a:t>“Therefore, my brethren, you also have become dead to the law through the body of Christ, that you may be married to another—to Him who was raised from the dead, that we should bear fruit to God.”</a:t>
            </a:r>
          </a:p>
          <a:p>
            <a:pPr algn="ctr">
              <a:spcBef>
                <a:spcPts val="1600"/>
              </a:spcBef>
            </a:pPr>
            <a:r>
              <a:rPr sz="1600" b="1">
                <a:solidFill>
                  <a:srgbClr val="FFFFFF"/>
                </a:solidFill>
              </a:rPr>
              <a:t>Romans 7:4 (NKJV)</a:t>
            </a:r>
          </a:p>
        </p:txBody>
      </p:sp>
      <p:sp>
        <p:nvSpPr>
          <p:cNvPr id="8" name="TextBox 7"/>
          <p:cNvSpPr txBox="1"/>
          <p:nvPr/>
        </p:nvSpPr>
        <p:spPr>
          <a:xfrm>
            <a:off x="274320" y="14127480"/>
            <a:ext cx="7680960" cy="502920"/>
          </a:xfrm>
          <a:prstGeom prst="rect">
            <a:avLst/>
          </a:prstGeom>
          <a:noFill/>
        </p:spPr>
        <p:txBody>
          <a:bodyPr wrap="none" anchor="ctr">
            <a:spAutoFit/>
          </a:bodyPr>
          <a:lstStyle/>
          <a:p>
            <a:pPr algn="ctr"/>
            <a:r>
              <a:rPr sz="1300" b="1">
                <a:solidFill>
                  <a:srgbClr val="000014"/>
                </a:solidFill>
              </a:rPr>
              <a:t>Led by the Holy Spirit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7680960" cy="411480"/>
          </a:xfrm>
          <a:prstGeom prst="rect">
            <a:avLst/>
          </a:prstGeom>
          <a:noFill/>
        </p:spPr>
        <p:txBody>
          <a:bodyPr wrap="none" anchor="ctr">
            <a:spAutoFit/>
          </a:bodyPr>
          <a:lstStyle/>
          <a:p>
            <a:pPr algn="ctr"/>
            <a:r>
              <a:rPr sz="2000" b="1">
                <a:solidFill>
                  <a:srgbClr val="FFFFFF"/>
                </a:solidFill>
                <a:latin typeface="Arial"/>
              </a:rPr>
              <a:t>WORSHIP</a:t>
            </a:r>
          </a:p>
        </p:txBody>
      </p:sp>
      <p:sp>
        <p:nvSpPr>
          <p:cNvPr id="5" name="TextBox 4"/>
          <p:cNvSpPr txBox="1"/>
          <p:nvPr/>
        </p:nvSpPr>
        <p:spPr>
          <a:xfrm>
            <a:off x="548640" y="914400"/>
            <a:ext cx="7132320" cy="1828800"/>
          </a:xfrm>
          <a:prstGeom prst="rect">
            <a:avLst/>
          </a:prstGeom>
          <a:noFill/>
        </p:spPr>
        <p:txBody>
          <a:bodyPr wrap="square">
            <a:spAutoFit/>
          </a:bodyPr>
          <a:lstStyle/>
          <a:p>
            <a:r>
              <a:rPr sz="2800" b="1">
                <a:solidFill>
                  <a:srgbClr val="FFFFFF"/>
                </a:solidFill>
                <a:latin typeface="Georgia"/>
              </a:rPr>
              <a:t>Lord, I Need You</a:t>
            </a:r>
          </a:p>
          <a:p>
            <a:pPr>
              <a:spcBef>
                <a:spcPts val="400"/>
              </a:spcBef>
            </a:pPr>
            <a:r>
              <a:rPr sz="1600" i="1" b="1">
                <a:solidFill>
                  <a:srgbClr val="28A0F0"/>
                </a:solidFill>
              </a:rPr>
              <a:t>Matt Maher</a:t>
            </a:r>
          </a:p>
          <a:p>
            <a:pPr>
              <a:spcBef>
                <a:spcPts val="600"/>
              </a:spcBef>
            </a:pPr>
            <a:r>
              <a:rPr sz="1400" b="1">
                <a:solidFill>
                  <a:srgbClr val="DCDCDC"/>
                </a:solidFill>
              </a:rPr>
              <a:t>Desperation for Christ — mirrors Paul’s cry in 7:24</a:t>
            </a:r>
          </a:p>
        </p:txBody>
      </p:sp>
      <p:sp>
        <p:nvSpPr>
          <p:cNvPr id="6" name="TextBox 5"/>
          <p:cNvSpPr txBox="1"/>
          <p:nvPr/>
        </p:nvSpPr>
        <p:spPr>
          <a:xfrm>
            <a:off x="548640" y="3108960"/>
            <a:ext cx="7132320" cy="1828800"/>
          </a:xfrm>
          <a:prstGeom prst="rect">
            <a:avLst/>
          </a:prstGeom>
          <a:noFill/>
        </p:spPr>
        <p:txBody>
          <a:bodyPr wrap="square">
            <a:spAutoFit/>
          </a:bodyPr>
          <a:lstStyle/>
          <a:p>
            <a:r>
              <a:rPr sz="2800" b="1">
                <a:solidFill>
                  <a:srgbClr val="FFFFFF"/>
                </a:solidFill>
                <a:latin typeface="Georgia"/>
              </a:rPr>
              <a:t>Come As You Are</a:t>
            </a:r>
          </a:p>
          <a:p>
            <a:pPr>
              <a:spcBef>
                <a:spcPts val="400"/>
              </a:spcBef>
            </a:pPr>
            <a:r>
              <a:rPr sz="1600" i="1" b="1">
                <a:solidFill>
                  <a:srgbClr val="28A0F0"/>
                </a:solidFill>
              </a:rPr>
              <a:t>Crowder</a:t>
            </a:r>
          </a:p>
          <a:p>
            <a:pPr>
              <a:spcBef>
                <a:spcPts val="600"/>
              </a:spcBef>
            </a:pPr>
            <a:r>
              <a:rPr sz="1400" b="1">
                <a:solidFill>
                  <a:srgbClr val="DCDCDC"/>
                </a:solidFill>
              </a:rPr>
              <a:t>No matter the struggle, come to Jesus as you are</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TextBox 7"/>
          <p:cNvSpPr txBox="1"/>
          <p:nvPr/>
        </p:nvSpPr>
        <p:spPr>
          <a:xfrm>
            <a:off x="548640" y="10241280"/>
            <a:ext cx="7132320" cy="1828800"/>
          </a:xfrm>
          <a:prstGeom prst="rect">
            <a:avLst/>
          </a:prstGeom>
          <a:noFill/>
        </p:spPr>
        <p:txBody>
          <a:bodyPr wrap="square">
            <a:spAutoFit/>
          </a:bodyPr>
          <a:lstStyle/>
          <a:p>
            <a:r>
              <a:rPr sz="2800" b="1">
                <a:solidFill>
                  <a:srgbClr val="FFFFFF"/>
                </a:solidFill>
                <a:latin typeface="Georgia"/>
              </a:rPr>
              <a:t>Rescue</a:t>
            </a:r>
          </a:p>
          <a:p>
            <a:pPr>
              <a:spcBef>
                <a:spcPts val="400"/>
              </a:spcBef>
            </a:pPr>
            <a:r>
              <a:rPr sz="1600" i="1" b="1">
                <a:solidFill>
                  <a:srgbClr val="28A0F0"/>
                </a:solidFill>
              </a:rPr>
              <a:t>Lauren Daigle</a:t>
            </a:r>
          </a:p>
          <a:p>
            <a:pPr>
              <a:spcBef>
                <a:spcPts val="600"/>
              </a:spcBef>
            </a:pPr>
            <a:r>
              <a:rPr sz="1400" b="1">
                <a:solidFill>
                  <a:srgbClr val="DCDCDC"/>
                </a:solidFill>
              </a:rPr>
              <a:t>Crying out for rescue from the war within</a:t>
            </a:r>
          </a:p>
        </p:txBody>
      </p:sp>
      <p:sp>
        <p:nvSpPr>
          <p:cNvPr id="9" name="TextBox 8"/>
          <p:cNvSpPr txBox="1"/>
          <p:nvPr/>
        </p:nvSpPr>
        <p:spPr>
          <a:xfrm>
            <a:off x="548640" y="12435840"/>
            <a:ext cx="7132320" cy="1828800"/>
          </a:xfrm>
          <a:prstGeom prst="rect">
            <a:avLst/>
          </a:prstGeom>
          <a:noFill/>
        </p:spPr>
        <p:txBody>
          <a:bodyPr wrap="square">
            <a:spAutoFit/>
          </a:bodyPr>
          <a:lstStyle/>
          <a:p>
            <a:r>
              <a:rPr sz="2800" b="1">
                <a:solidFill>
                  <a:srgbClr val="FFFFFF"/>
                </a:solidFill>
                <a:latin typeface="Georgia"/>
              </a:rPr>
              <a:t>Graves Into Gardens</a:t>
            </a:r>
          </a:p>
          <a:p>
            <a:pPr>
              <a:spcBef>
                <a:spcPts val="400"/>
              </a:spcBef>
            </a:pPr>
            <a:r>
              <a:rPr sz="1600" i="1" b="1">
                <a:solidFill>
                  <a:srgbClr val="28A0F0"/>
                </a:solidFill>
              </a:rPr>
              <a:t>Elevation Worship</a:t>
            </a:r>
          </a:p>
          <a:p>
            <a:pPr>
              <a:spcBef>
                <a:spcPts val="600"/>
              </a:spcBef>
            </a:pPr>
            <a:r>
              <a:rPr sz="1400" b="1">
                <a:solidFill>
                  <a:srgbClr val="DCDCDC"/>
                </a:solidFill>
              </a:rPr>
              <a:t>God turns our deadness under the law into life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Dead to the Law</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7:1–3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1 </a:t>
            </a:r>
            <a:r>
              <a:rPr sz="2200" b="1">
                <a:solidFill>
                  <a:srgbClr val="DCDCDC"/>
                </a:solidFill>
                <a:latin typeface="Georgia"/>
              </a:rPr>
              <a:t>Or do you not know, brethren (for I speak to those who know the law), that the law has dominion over a man as long as he lives?</a:t>
            </a:r>
          </a:p>
          <a:p>
            <a:pPr>
              <a:spcAft>
                <a:spcPts val="1000"/>
              </a:spcAft>
            </a:pPr>
            <a:r>
              <a:rPr sz="1500" b="1">
                <a:solidFill>
                  <a:srgbClr val="28A0F0"/>
                </a:solidFill>
                <a:latin typeface="Calibri"/>
              </a:rPr>
              <a:t>2 </a:t>
            </a:r>
            <a:r>
              <a:rPr sz="2200" b="1">
                <a:solidFill>
                  <a:srgbClr val="DCDCDC"/>
                </a:solidFill>
                <a:latin typeface="Georgia"/>
              </a:rPr>
              <a:t>For the woman who has a husband is bound by the law to her husband as long as he lives. But if the husband dies, she is released from the law of her husband.</a:t>
            </a:r>
          </a:p>
          <a:p>
            <a:pPr>
              <a:spcAft>
                <a:spcPts val="1000"/>
              </a:spcAft>
            </a:pPr>
            <a:r>
              <a:rPr sz="1500" b="1">
                <a:solidFill>
                  <a:srgbClr val="28A0F0"/>
                </a:solidFill>
                <a:latin typeface="Calibri"/>
              </a:rPr>
              <a:t>3 </a:t>
            </a:r>
            <a:r>
              <a:rPr sz="2200" b="1">
                <a:solidFill>
                  <a:srgbClr val="DCDCDC"/>
                </a:solidFill>
                <a:latin typeface="Georgia"/>
              </a:rPr>
              <a:t>So then if, while her husband lives, she marries another man, she will be called an adulteress; but if her husband dies, she is free from that law, so that she is no adulteress, though she has married another man.</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Alive to Christ</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7:4–6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4 </a:t>
            </a:r>
            <a:r>
              <a:rPr sz="2200" b="1">
                <a:solidFill>
                  <a:srgbClr val="DCDCDC"/>
                </a:solidFill>
                <a:latin typeface="Georgia"/>
              </a:rPr>
              <a:t>Therefore, my brethren, you also have become dead to the law through the body of Christ, that you may be married to another—to Him who was raised from the dead, that we should bear fruit to God.</a:t>
            </a:r>
          </a:p>
          <a:p>
            <a:pPr>
              <a:spcAft>
                <a:spcPts val="1000"/>
              </a:spcAft>
            </a:pPr>
            <a:r>
              <a:rPr sz="1500" b="1">
                <a:solidFill>
                  <a:srgbClr val="28A0F0"/>
                </a:solidFill>
                <a:latin typeface="Calibri"/>
              </a:rPr>
              <a:t>5 </a:t>
            </a:r>
            <a:r>
              <a:rPr sz="2200" b="1">
                <a:solidFill>
                  <a:srgbClr val="DCDCDC"/>
                </a:solidFill>
                <a:latin typeface="Georgia"/>
              </a:rPr>
              <a:t>For when we were in the flesh, the sinful passions which were aroused by the law were at work in our members to bear fruit to death.</a:t>
            </a:r>
          </a:p>
          <a:p>
            <a:pPr>
              <a:spcAft>
                <a:spcPts val="1000"/>
              </a:spcAft>
            </a:pPr>
            <a:r>
              <a:rPr sz="1500" b="1">
                <a:solidFill>
                  <a:srgbClr val="28A0F0"/>
                </a:solidFill>
                <a:latin typeface="Calibri"/>
              </a:rPr>
              <a:t>6 </a:t>
            </a:r>
            <a:r>
              <a:rPr sz="2200" b="1">
                <a:solidFill>
                  <a:srgbClr val="DCDCDC"/>
                </a:solidFill>
                <a:latin typeface="Georgia"/>
              </a:rPr>
              <a:t>But now we have been delivered from the law, having died to what we were held by, so that we should serve in the newness of the Spirit and not in the oldness of the letter.</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The Law Reveals Sin</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7:7–9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7 </a:t>
            </a:r>
            <a:r>
              <a:rPr sz="2200" b="1">
                <a:solidFill>
                  <a:srgbClr val="DCDCDC"/>
                </a:solidFill>
                <a:latin typeface="Georgia"/>
              </a:rPr>
              <a:t>What shall we say then? Is the law sin? Certainly not! On the contrary, I would not have known sin except through the law. For I would not have known covetousness unless the law had said, “You shall not covet.”</a:t>
            </a:r>
          </a:p>
          <a:p>
            <a:pPr>
              <a:spcAft>
                <a:spcPts val="1000"/>
              </a:spcAft>
            </a:pPr>
            <a:r>
              <a:rPr sz="1500" b="1">
                <a:solidFill>
                  <a:srgbClr val="28A0F0"/>
                </a:solidFill>
                <a:latin typeface="Calibri"/>
              </a:rPr>
              <a:t>8 </a:t>
            </a:r>
            <a:r>
              <a:rPr sz="2200" b="1">
                <a:solidFill>
                  <a:srgbClr val="DCDCDC"/>
                </a:solidFill>
                <a:latin typeface="Georgia"/>
              </a:rPr>
              <a:t>But sin, taking opportunity by the commandment, produced in me all manner of evil desire. For apart from the law sin was dead.</a:t>
            </a:r>
          </a:p>
          <a:p>
            <a:pPr>
              <a:spcAft>
                <a:spcPts val="1000"/>
              </a:spcAft>
            </a:pPr>
            <a:r>
              <a:rPr sz="1500" b="1">
                <a:solidFill>
                  <a:srgbClr val="28A0F0"/>
                </a:solidFill>
                <a:latin typeface="Calibri"/>
              </a:rPr>
              <a:t>9 </a:t>
            </a:r>
            <a:r>
              <a:rPr sz="2200" b="1">
                <a:solidFill>
                  <a:srgbClr val="DCDCDC"/>
                </a:solidFill>
                <a:latin typeface="Georgia"/>
              </a:rPr>
              <a:t>I was alive once without the law, but when the commandment came, sin revived and I died.</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The Law Is Holy</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7:10–12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10 </a:t>
            </a:r>
            <a:r>
              <a:rPr sz="2200" b="1">
                <a:solidFill>
                  <a:srgbClr val="DCDCDC"/>
                </a:solidFill>
                <a:latin typeface="Georgia"/>
              </a:rPr>
              <a:t>And the commandment, which was to bring life, I found to bring death.</a:t>
            </a:r>
          </a:p>
          <a:p>
            <a:pPr>
              <a:spcAft>
                <a:spcPts val="1000"/>
              </a:spcAft>
            </a:pPr>
            <a:r>
              <a:rPr sz="1500" b="1">
                <a:solidFill>
                  <a:srgbClr val="28A0F0"/>
                </a:solidFill>
                <a:latin typeface="Calibri"/>
              </a:rPr>
              <a:t>11 </a:t>
            </a:r>
            <a:r>
              <a:rPr sz="2200" b="1">
                <a:solidFill>
                  <a:srgbClr val="DCDCDC"/>
                </a:solidFill>
                <a:latin typeface="Georgia"/>
              </a:rPr>
              <a:t>For sin, taking occasion by the commandment, deceived me, and by it killed me.</a:t>
            </a:r>
          </a:p>
          <a:p>
            <a:pPr>
              <a:spcAft>
                <a:spcPts val="1000"/>
              </a:spcAft>
            </a:pPr>
            <a:r>
              <a:rPr sz="1500" b="1">
                <a:solidFill>
                  <a:srgbClr val="28A0F0"/>
                </a:solidFill>
                <a:latin typeface="Calibri"/>
              </a:rPr>
              <a:t>12 </a:t>
            </a:r>
            <a:r>
              <a:rPr sz="2200" b="1">
                <a:solidFill>
                  <a:srgbClr val="DCDCDC"/>
                </a:solidFill>
                <a:latin typeface="Georgia"/>
              </a:rPr>
              <a:t>Therefore the law is holy, and the commandment holy and just and good.</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The War Within</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7:13–15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13 </a:t>
            </a:r>
            <a:r>
              <a:rPr sz="2200" b="1">
                <a:solidFill>
                  <a:srgbClr val="DCDCDC"/>
                </a:solidFill>
                <a:latin typeface="Georgia"/>
              </a:rPr>
              <a:t>Has then what is good become death to me? Certainly not! But sin, that it might appear sin, was producing death in me through what is good, so that sin through the commandment might become exceedingly sinful.</a:t>
            </a:r>
          </a:p>
          <a:p>
            <a:pPr>
              <a:spcAft>
                <a:spcPts val="1000"/>
              </a:spcAft>
            </a:pPr>
            <a:r>
              <a:rPr sz="1500" b="1">
                <a:solidFill>
                  <a:srgbClr val="28A0F0"/>
                </a:solidFill>
                <a:latin typeface="Calibri"/>
              </a:rPr>
              <a:t>14 </a:t>
            </a:r>
            <a:r>
              <a:rPr sz="2200" b="1">
                <a:solidFill>
                  <a:srgbClr val="DCDCDC"/>
                </a:solidFill>
                <a:latin typeface="Georgia"/>
              </a:rPr>
              <a:t>For we know that the law is spiritual, but I am carnal, sold under sin.</a:t>
            </a:r>
          </a:p>
          <a:p>
            <a:pPr>
              <a:spcAft>
                <a:spcPts val="1000"/>
              </a:spcAft>
            </a:pPr>
            <a:r>
              <a:rPr sz="1500" b="1">
                <a:solidFill>
                  <a:srgbClr val="28A0F0"/>
                </a:solidFill>
                <a:latin typeface="Calibri"/>
              </a:rPr>
              <a:t>15 </a:t>
            </a:r>
            <a:r>
              <a:rPr sz="2200" b="1">
                <a:solidFill>
                  <a:srgbClr val="DCDCDC"/>
                </a:solidFill>
                <a:latin typeface="Georgia"/>
              </a:rPr>
              <a:t>For what I am doing, I do not understand. For what I will to do, that I do not practice; but what I hate, that I do.</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It Is No Longer I</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7:16–18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16 </a:t>
            </a:r>
            <a:r>
              <a:rPr sz="2200" b="1">
                <a:solidFill>
                  <a:srgbClr val="DCDCDC"/>
                </a:solidFill>
                <a:latin typeface="Georgia"/>
              </a:rPr>
              <a:t>If, then, I do what I will not to do, I agree with the law that it is good.</a:t>
            </a:r>
          </a:p>
          <a:p>
            <a:pPr>
              <a:spcAft>
                <a:spcPts val="1000"/>
              </a:spcAft>
            </a:pPr>
            <a:r>
              <a:rPr sz="1500" b="1">
                <a:solidFill>
                  <a:srgbClr val="28A0F0"/>
                </a:solidFill>
                <a:latin typeface="Calibri"/>
              </a:rPr>
              <a:t>17 </a:t>
            </a:r>
            <a:r>
              <a:rPr sz="2200" b="1">
                <a:solidFill>
                  <a:srgbClr val="DCDCDC"/>
                </a:solidFill>
                <a:latin typeface="Georgia"/>
              </a:rPr>
              <a:t>But now, it is no longer I who do it, but sin that dwells in me.</a:t>
            </a:r>
          </a:p>
          <a:p>
            <a:pPr>
              <a:spcAft>
                <a:spcPts val="1000"/>
              </a:spcAft>
            </a:pPr>
            <a:r>
              <a:rPr sz="1500" b="1">
                <a:solidFill>
                  <a:srgbClr val="28A0F0"/>
                </a:solidFill>
                <a:latin typeface="Calibri"/>
              </a:rPr>
              <a:t>18 </a:t>
            </a:r>
            <a:r>
              <a:rPr sz="2200" b="1">
                <a:solidFill>
                  <a:srgbClr val="DCDCDC"/>
                </a:solidFill>
                <a:latin typeface="Georgia"/>
              </a:rPr>
              <a:t>For I know that in me (that is, in my flesh) nothing good dwells; for to will is present with me, but how to perform what is good I do not find.</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Sin That Dwells in Me</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7:19–20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19 </a:t>
            </a:r>
            <a:r>
              <a:rPr sz="2200" b="1">
                <a:solidFill>
                  <a:srgbClr val="DCDCDC"/>
                </a:solidFill>
                <a:latin typeface="Georgia"/>
              </a:rPr>
              <a:t>For the good that I will to do, I do not do; but the evil I will not to do, that I practice.</a:t>
            </a:r>
          </a:p>
          <a:p>
            <a:pPr>
              <a:spcAft>
                <a:spcPts val="1000"/>
              </a:spcAft>
            </a:pPr>
            <a:r>
              <a:rPr sz="1500" b="1">
                <a:solidFill>
                  <a:srgbClr val="28A0F0"/>
                </a:solidFill>
                <a:latin typeface="Calibri"/>
              </a:rPr>
              <a:t>20 </a:t>
            </a:r>
            <a:r>
              <a:rPr sz="2200" b="1">
                <a:solidFill>
                  <a:srgbClr val="DCDCDC"/>
                </a:solidFill>
                <a:latin typeface="Georgia"/>
              </a:rPr>
              <a:t>Now if I do what I will not to do, it is no longer I who do it, but sin that dwells in me.</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Two Laws at War</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7:21–23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21 </a:t>
            </a:r>
            <a:r>
              <a:rPr sz="2200" b="1">
                <a:solidFill>
                  <a:srgbClr val="DCDCDC"/>
                </a:solidFill>
                <a:latin typeface="Georgia"/>
              </a:rPr>
              <a:t>I find then a law, that evil is present with me, the one who wills to do good.</a:t>
            </a:r>
          </a:p>
          <a:p>
            <a:pPr>
              <a:spcAft>
                <a:spcPts val="1000"/>
              </a:spcAft>
            </a:pPr>
            <a:r>
              <a:rPr sz="1500" b="1">
                <a:solidFill>
                  <a:srgbClr val="28A0F0"/>
                </a:solidFill>
                <a:latin typeface="Calibri"/>
              </a:rPr>
              <a:t>22 </a:t>
            </a:r>
            <a:r>
              <a:rPr sz="2200" b="1">
                <a:solidFill>
                  <a:srgbClr val="DCDCDC"/>
                </a:solidFill>
                <a:latin typeface="Georgia"/>
              </a:rPr>
              <a:t>For I delight in the law of God according to the inward man.</a:t>
            </a:r>
          </a:p>
          <a:p>
            <a:pPr>
              <a:spcAft>
                <a:spcPts val="1000"/>
              </a:spcAft>
            </a:pPr>
            <a:r>
              <a:rPr sz="1500" b="1">
                <a:solidFill>
                  <a:srgbClr val="28A0F0"/>
                </a:solidFill>
                <a:latin typeface="Calibri"/>
              </a:rPr>
              <a:t>23 </a:t>
            </a:r>
            <a:r>
              <a:rPr sz="2200" b="1">
                <a:solidFill>
                  <a:srgbClr val="DCDCDC"/>
                </a:solidFill>
                <a:latin typeface="Georgia"/>
              </a:rPr>
              <a:t>But I see another law in my members, warring against the law of my mind, and bringing me into captivity to the law of sin which is in my members.</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The Cry for Deliverance</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7:24–25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24 </a:t>
            </a:r>
            <a:r>
              <a:rPr sz="2200" b="1">
                <a:solidFill>
                  <a:srgbClr val="DCDCDC"/>
                </a:solidFill>
                <a:latin typeface="Georgia"/>
              </a:rPr>
              <a:t>O wretched man that I am! Who will deliver me from this body of death?</a:t>
            </a:r>
          </a:p>
          <a:p>
            <a:pPr>
              <a:spcAft>
                <a:spcPts val="1000"/>
              </a:spcAft>
            </a:pPr>
            <a:r>
              <a:rPr sz="1500" b="1">
                <a:solidFill>
                  <a:srgbClr val="28A0F0"/>
                </a:solidFill>
                <a:latin typeface="Calibri"/>
              </a:rPr>
              <a:t>25 </a:t>
            </a:r>
            <a:r>
              <a:rPr sz="2200" b="1">
                <a:solidFill>
                  <a:srgbClr val="DCDCDC"/>
                </a:solidFill>
                <a:latin typeface="Georgia"/>
              </a:rPr>
              <a:t>I thank God—through Jesus Christ our Lord! So then, with the mind I myself serve the law of God, but with the flesh the law of sin.</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7680960" cy="411480"/>
          </a:xfrm>
          <a:prstGeom prst="rect">
            <a:avLst/>
          </a:prstGeom>
          <a:noFill/>
        </p:spPr>
        <p:txBody>
          <a:bodyPr wrap="none" anchor="ctr">
            <a:spAutoFit/>
          </a:bodyPr>
          <a:lstStyle/>
          <a:p>
            <a:pPr algn="ctr"/>
            <a:r>
              <a:rPr sz="1800" b="1">
                <a:solidFill>
                  <a:srgbClr val="FFFFFF"/>
                </a:solidFill>
                <a:latin typeface="Arial"/>
              </a:rPr>
              <a:t>BIBLE BINGO</a:t>
            </a:r>
          </a:p>
        </p:txBody>
      </p:sp>
      <p:sp>
        <p:nvSpPr>
          <p:cNvPr id="5" name="TextBox 4"/>
          <p:cNvSpPr txBox="1"/>
          <p:nvPr/>
        </p:nvSpPr>
        <p:spPr>
          <a:xfrm>
            <a:off x="457200" y="1371600"/>
            <a:ext cx="7315200" cy="3200400"/>
          </a:xfrm>
          <a:prstGeom prst="rect">
            <a:avLst/>
          </a:prstGeom>
          <a:noFill/>
        </p:spPr>
        <p:txBody>
          <a:bodyPr wrap="square">
            <a:spAutoFit/>
          </a:bodyPr>
          <a:lstStyle/>
          <a:p>
            <a:pPr algn="ctr"/>
            <a:r>
              <a:rPr sz="4800" b="1">
                <a:solidFill>
                  <a:srgbClr val="FFFFFF"/>
                </a:solidFill>
                <a:latin typeface="Georgia"/>
              </a:rPr>
              <a:t>Bible Bingo</a:t>
            </a:r>
          </a:p>
          <a:p>
            <a:pPr algn="ctr">
              <a:spcBef>
                <a:spcPts val="1400"/>
              </a:spcBef>
            </a:pPr>
            <a:r>
              <a:rPr sz="2200" b="1" i="1">
                <a:solidFill>
                  <a:srgbClr val="28A0F0"/>
                </a:solidFill>
                <a:latin typeface="Georgia"/>
              </a:rPr>
              <a:t>Play along during the teaching!</a:t>
            </a:r>
          </a:p>
          <a:p>
            <a:pPr algn="ctr">
              <a:spcBef>
                <a:spcPts val="2000"/>
              </a:spcBef>
            </a:pPr>
            <a:r>
              <a:rPr sz="2600" b="1">
                <a:solidFill>
                  <a:srgbClr val="DCDCDC"/>
                </a:solidFill>
                <a:latin typeface="Georgia"/>
              </a:rPr>
              <a:t>Scan to Play</a:t>
            </a:r>
          </a:p>
        </p:txBody>
      </p:sp>
      <p:sp>
        <p:nvSpPr>
          <p:cNvPr id="6" name="Rounded Rectangle 5"/>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pic>
        <p:nvPicPr>
          <p:cNvPr id="7" name="Picture 6" descr="image.png"/>
          <p:cNvPicPr>
            <a:picLocks noChangeAspect="1"/>
          </p:cNvPicPr>
          <p:nvPr/>
        </p:nvPicPr>
        <p:blipFill>
          <a:blip r:embed="rId2"/>
          <a:stretch>
            <a:fillRect/>
          </a:stretch>
        </p:blipFill>
        <p:spPr>
          <a:xfrm>
            <a:off x="365760" y="10241280"/>
            <a:ext cx="3200400" cy="3200400"/>
          </a:xfrm>
          <a:prstGeom prst="rect">
            <a:avLst/>
          </a:prstGeom>
        </p:spPr>
      </p:pic>
      <p:sp>
        <p:nvSpPr>
          <p:cNvPr id="8" name="TextBox 7"/>
          <p:cNvSpPr txBox="1"/>
          <p:nvPr/>
        </p:nvSpPr>
        <p:spPr>
          <a:xfrm>
            <a:off x="3840480" y="10515600"/>
            <a:ext cx="4114800" cy="2743200"/>
          </a:xfrm>
          <a:prstGeom prst="rect">
            <a:avLst/>
          </a:prstGeom>
          <a:noFill/>
        </p:spPr>
        <p:txBody>
          <a:bodyPr wrap="square">
            <a:spAutoFit/>
          </a:bodyPr>
          <a:lstStyle/>
          <a:p>
            <a:pPr algn="l"/>
            <a:r>
              <a:rPr sz="3600" b="1">
                <a:solidFill>
                  <a:srgbClr val="FFFFFF"/>
                </a:solidFill>
                <a:latin typeface="Georgia"/>
              </a:rPr>
              <a:t>Scan the
QR Code</a:t>
            </a:r>
          </a:p>
          <a:p>
            <a:pPr algn="l">
              <a:spcBef>
                <a:spcPts val="1600"/>
              </a:spcBef>
            </a:pPr>
            <a:r>
              <a:rPr sz="1200" b="1">
                <a:solidFill>
                  <a:srgbClr val="28A0F0"/>
                </a:solidFill>
              </a:rPr>
              <a:t>https://staytheway.com/teachings/romans-7/bingo.html</a:t>
            </a:r>
          </a:p>
        </p:txBody>
      </p:sp>
      <p:sp>
        <p:nvSpPr>
          <p:cNvPr id="9" name="TextBox 8"/>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7680960" cy="411480"/>
          </a:xfrm>
          <a:prstGeom prst="rect">
            <a:avLst/>
          </a:prstGeom>
          <a:noFill/>
        </p:spPr>
        <p:txBody>
          <a:bodyPr wrap="none" anchor="ctr">
            <a:spAutoFit/>
          </a:bodyPr>
          <a:lstStyle/>
          <a:p>
            <a:pPr algn="ctr"/>
            <a:r>
              <a:rPr sz="1800" b="1">
                <a:solidFill>
                  <a:srgbClr val="FFFFFF"/>
                </a:solidFill>
                <a:latin typeface="Arial"/>
              </a:rPr>
              <a:t>PRAYER REQUEST</a:t>
            </a:r>
          </a:p>
        </p:txBody>
      </p:sp>
      <p:sp>
        <p:nvSpPr>
          <p:cNvPr id="5" name="TextBox 4"/>
          <p:cNvSpPr txBox="1"/>
          <p:nvPr/>
        </p:nvSpPr>
        <p:spPr>
          <a:xfrm>
            <a:off x="457200" y="1371600"/>
            <a:ext cx="7315200" cy="3200400"/>
          </a:xfrm>
          <a:prstGeom prst="rect">
            <a:avLst/>
          </a:prstGeom>
          <a:noFill/>
        </p:spPr>
        <p:txBody>
          <a:bodyPr wrap="square">
            <a:spAutoFit/>
          </a:bodyPr>
          <a:lstStyle/>
          <a:p>
            <a:pPr algn="ctr"/>
            <a:r>
              <a:rPr sz="4800" b="1">
                <a:solidFill>
                  <a:srgbClr val="FFFFFF"/>
                </a:solidFill>
                <a:latin typeface="Georgia"/>
              </a:rPr>
              <a:t>Prayer Request</a:t>
            </a:r>
          </a:p>
          <a:p>
            <a:pPr algn="ctr">
              <a:spcBef>
                <a:spcPts val="1400"/>
              </a:spcBef>
            </a:pPr>
            <a:r>
              <a:rPr sz="2200" b="1" i="1">
                <a:solidFill>
                  <a:srgbClr val="28A0F0"/>
                </a:solidFill>
                <a:latin typeface="Georgia"/>
              </a:rPr>
              <a:t>We want to pray for you</a:t>
            </a:r>
          </a:p>
          <a:p>
            <a:pPr algn="ctr">
              <a:spcBef>
                <a:spcPts val="2000"/>
              </a:spcBef>
            </a:pPr>
            <a:r>
              <a:rPr sz="2600" b="1">
                <a:solidFill>
                  <a:srgbClr val="DCDCDC"/>
                </a:solidFill>
                <a:latin typeface="Georgia"/>
              </a:rPr>
              <a:t>Scan to Submit Your Prayer</a:t>
            </a:r>
          </a:p>
        </p:txBody>
      </p:sp>
      <p:sp>
        <p:nvSpPr>
          <p:cNvPr id="6" name="Rounded Rectangle 5"/>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pic>
        <p:nvPicPr>
          <p:cNvPr id="7" name="Picture 6" descr="image.png"/>
          <p:cNvPicPr>
            <a:picLocks noChangeAspect="1"/>
          </p:cNvPicPr>
          <p:nvPr/>
        </p:nvPicPr>
        <p:blipFill>
          <a:blip r:embed="rId2"/>
          <a:stretch>
            <a:fillRect/>
          </a:stretch>
        </p:blipFill>
        <p:spPr>
          <a:xfrm>
            <a:off x="365760" y="10241280"/>
            <a:ext cx="3200400" cy="3200400"/>
          </a:xfrm>
          <a:prstGeom prst="rect">
            <a:avLst/>
          </a:prstGeom>
        </p:spPr>
      </p:pic>
      <p:sp>
        <p:nvSpPr>
          <p:cNvPr id="8" name="TextBox 7"/>
          <p:cNvSpPr txBox="1"/>
          <p:nvPr/>
        </p:nvSpPr>
        <p:spPr>
          <a:xfrm>
            <a:off x="3840480" y="10515600"/>
            <a:ext cx="4114800" cy="2743200"/>
          </a:xfrm>
          <a:prstGeom prst="rect">
            <a:avLst/>
          </a:prstGeom>
          <a:noFill/>
        </p:spPr>
        <p:txBody>
          <a:bodyPr wrap="square">
            <a:spAutoFit/>
          </a:bodyPr>
          <a:lstStyle/>
          <a:p>
            <a:pPr algn="l"/>
            <a:r>
              <a:rPr sz="3600" b="1">
                <a:solidFill>
                  <a:srgbClr val="FFFFFF"/>
                </a:solidFill>
                <a:latin typeface="Georgia"/>
              </a:rPr>
              <a:t>Scan the
QR Code</a:t>
            </a:r>
          </a:p>
          <a:p>
            <a:pPr algn="l">
              <a:spcBef>
                <a:spcPts val="1600"/>
              </a:spcBef>
            </a:pPr>
            <a:r>
              <a:rPr sz="1200" b="1">
                <a:solidFill>
                  <a:srgbClr val="28A0F0"/>
                </a:solidFill>
              </a:rPr>
              <a:t>https://staytheway.com/teachings/romans-7/prayer.html</a:t>
            </a:r>
          </a:p>
        </p:txBody>
      </p:sp>
      <p:sp>
        <p:nvSpPr>
          <p:cNvPr id="9" name="TextBox 8"/>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7680960" cy="411480"/>
          </a:xfrm>
          <a:prstGeom prst="rect">
            <a:avLst/>
          </a:prstGeom>
          <a:noFill/>
        </p:spPr>
        <p:txBody>
          <a:bodyPr wrap="none" anchor="ctr">
            <a:spAutoFit/>
          </a:bodyPr>
          <a:lstStyle/>
          <a:p>
            <a:pPr algn="ctr"/>
            <a:r>
              <a:rPr sz="1800" b="1">
                <a:solidFill>
                  <a:srgbClr val="FFFFFF"/>
                </a:solidFill>
                <a:latin typeface="Arial"/>
              </a:rPr>
              <a:t>TAKE THE QUIZ</a:t>
            </a:r>
          </a:p>
        </p:txBody>
      </p:sp>
      <p:sp>
        <p:nvSpPr>
          <p:cNvPr id="5" name="TextBox 4"/>
          <p:cNvSpPr txBox="1"/>
          <p:nvPr/>
        </p:nvSpPr>
        <p:spPr>
          <a:xfrm>
            <a:off x="457200" y="1371600"/>
            <a:ext cx="7315200" cy="3200400"/>
          </a:xfrm>
          <a:prstGeom prst="rect">
            <a:avLst/>
          </a:prstGeom>
          <a:noFill/>
        </p:spPr>
        <p:txBody>
          <a:bodyPr wrap="square">
            <a:spAutoFit/>
          </a:bodyPr>
          <a:lstStyle/>
          <a:p>
            <a:pPr algn="ctr"/>
            <a:r>
              <a:rPr sz="4800" b="1">
                <a:solidFill>
                  <a:srgbClr val="FFFFFF"/>
                </a:solidFill>
                <a:latin typeface="Georgia"/>
              </a:rPr>
              <a:t>Take the Quiz</a:t>
            </a:r>
          </a:p>
          <a:p>
            <a:pPr algn="ctr">
              <a:spcBef>
                <a:spcPts val="1400"/>
              </a:spcBef>
            </a:pPr>
            <a:r>
              <a:rPr sz="2200" b="1" i="1">
                <a:solidFill>
                  <a:srgbClr val="28A0F0"/>
                </a:solidFill>
                <a:latin typeface="Georgia"/>
              </a:rPr>
              <a:t>Test what you learned today!</a:t>
            </a:r>
          </a:p>
          <a:p>
            <a:pPr algn="ctr">
              <a:spcBef>
                <a:spcPts val="2000"/>
              </a:spcBef>
            </a:pPr>
            <a:r>
              <a:rPr sz="2600" b="1">
                <a:solidFill>
                  <a:srgbClr val="DCDCDC"/>
                </a:solidFill>
                <a:latin typeface="Georgia"/>
              </a:rPr>
              <a:t>Scan to Take the Quiz</a:t>
            </a:r>
          </a:p>
        </p:txBody>
      </p:sp>
      <p:sp>
        <p:nvSpPr>
          <p:cNvPr id="6" name="Rounded Rectangle 5"/>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pic>
        <p:nvPicPr>
          <p:cNvPr id="7" name="Picture 6" descr="image.png"/>
          <p:cNvPicPr>
            <a:picLocks noChangeAspect="1"/>
          </p:cNvPicPr>
          <p:nvPr/>
        </p:nvPicPr>
        <p:blipFill>
          <a:blip r:embed="rId2"/>
          <a:stretch>
            <a:fillRect/>
          </a:stretch>
        </p:blipFill>
        <p:spPr>
          <a:xfrm>
            <a:off x="365760" y="10241280"/>
            <a:ext cx="3200400" cy="3200400"/>
          </a:xfrm>
          <a:prstGeom prst="rect">
            <a:avLst/>
          </a:prstGeom>
        </p:spPr>
      </p:pic>
      <p:sp>
        <p:nvSpPr>
          <p:cNvPr id="8" name="TextBox 7"/>
          <p:cNvSpPr txBox="1"/>
          <p:nvPr/>
        </p:nvSpPr>
        <p:spPr>
          <a:xfrm>
            <a:off x="3840480" y="10515600"/>
            <a:ext cx="4114800" cy="2743200"/>
          </a:xfrm>
          <a:prstGeom prst="rect">
            <a:avLst/>
          </a:prstGeom>
          <a:noFill/>
        </p:spPr>
        <p:txBody>
          <a:bodyPr wrap="square">
            <a:spAutoFit/>
          </a:bodyPr>
          <a:lstStyle/>
          <a:p>
            <a:pPr algn="l"/>
            <a:r>
              <a:rPr sz="3600" b="1">
                <a:solidFill>
                  <a:srgbClr val="FFFFFF"/>
                </a:solidFill>
                <a:latin typeface="Georgia"/>
              </a:rPr>
              <a:t>Scan the
QR Code</a:t>
            </a:r>
          </a:p>
          <a:p>
            <a:pPr algn="l">
              <a:spcBef>
                <a:spcPts val="1600"/>
              </a:spcBef>
            </a:pPr>
            <a:r>
              <a:rPr sz="1200" b="1">
                <a:solidFill>
                  <a:srgbClr val="28A0F0"/>
                </a:solidFill>
              </a:rPr>
              <a:t>https://staytheway.com/teachings/romans-7/quiz.html</a:t>
            </a:r>
          </a:p>
        </p:txBody>
      </p:sp>
      <p:sp>
        <p:nvSpPr>
          <p:cNvPr id="9" name="TextBox 8"/>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