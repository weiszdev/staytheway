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8229600" cy="14630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600" b="1">
                <a:solidFill>
                  <a:srgbClr val="FFFFFF"/>
                </a:solidFill>
                <a:latin typeface="Arial"/>
              </a:rPr>
              <a:t>STAYTHEWAY MINISTRY</a:t>
            </a:r>
          </a:p>
        </p:txBody>
      </p:sp>
      <p:sp>
        <p:nvSpPr>
          <p:cNvPr id="5" name="TextBox 4"/>
          <p:cNvSpPr txBox="1"/>
          <p:nvPr/>
        </p:nvSpPr>
        <p:spPr>
          <a:xfrm>
            <a:off x="457200" y="1097280"/>
            <a:ext cx="7315200" cy="3657600"/>
          </a:xfrm>
          <a:prstGeom prst="rect">
            <a:avLst/>
          </a:prstGeom>
          <a:noFill/>
        </p:spPr>
        <p:txBody>
          <a:bodyPr wrap="square">
            <a:spAutoFit/>
          </a:bodyPr>
          <a:lstStyle/>
          <a:p>
            <a:pPr algn="ctr"/>
            <a:r>
              <a:rPr sz="7200" b="1">
                <a:solidFill>
                  <a:srgbClr val="FFFFFF"/>
                </a:solidFill>
                <a:latin typeface="Georgia"/>
              </a:rPr>
              <a:t>Romans 8</a:t>
            </a:r>
          </a:p>
          <a:p>
            <a:pPr algn="ctr">
              <a:spcBef>
                <a:spcPts val="800"/>
              </a:spcBef>
            </a:pPr>
            <a:r>
              <a:rPr sz="3000" i="1" b="1">
                <a:solidFill>
                  <a:srgbClr val="28A0F0"/>
                </a:solidFill>
                <a:latin typeface="Georgia"/>
              </a:rPr>
              <a:t>Life in the Spirit</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7" name="TextBox 6"/>
          <p:cNvSpPr txBox="1"/>
          <p:nvPr/>
        </p:nvSpPr>
        <p:spPr>
          <a:xfrm>
            <a:off x="548640" y="10241280"/>
            <a:ext cx="7132320" cy="3200400"/>
          </a:xfrm>
          <a:prstGeom prst="rect">
            <a:avLst/>
          </a:prstGeom>
          <a:noFill/>
        </p:spPr>
        <p:txBody>
          <a:bodyPr wrap="square">
            <a:spAutoFit/>
          </a:bodyPr>
          <a:lstStyle/>
          <a:p>
            <a:pPr algn="ctr"/>
            <a:r>
              <a:rPr sz="2400" i="1" b="1">
                <a:solidFill>
                  <a:srgbClr val="DCDCDC"/>
                </a:solidFill>
                <a:latin typeface="Georgia"/>
              </a:rPr>
              <a:t>“There is therefore now no condemnation to those who are in Christ Jesus, who do not walk according to the flesh, but according to the Spirit.”</a:t>
            </a:r>
          </a:p>
          <a:p>
            <a:pPr algn="ctr">
              <a:spcBef>
                <a:spcPts val="1600"/>
              </a:spcBef>
            </a:pPr>
            <a:r>
              <a:rPr sz="1600" b="1">
                <a:solidFill>
                  <a:srgbClr val="FFFFFF"/>
                </a:solidFill>
              </a:rPr>
              <a:t>Romans 8:1 (NKJV)</a:t>
            </a:r>
          </a:p>
        </p:txBody>
      </p:sp>
      <p:sp>
        <p:nvSpPr>
          <p:cNvPr id="8" name="TextBox 7"/>
          <p:cNvSpPr txBox="1"/>
          <p:nvPr/>
        </p:nvSpPr>
        <p:spPr>
          <a:xfrm>
            <a:off x="274320" y="14127480"/>
            <a:ext cx="7680960" cy="502920"/>
          </a:xfrm>
          <a:prstGeom prst="rect">
            <a:avLst/>
          </a:prstGeom>
          <a:noFill/>
        </p:spPr>
        <p:txBody>
          <a:bodyPr wrap="none" anchor="ctr">
            <a:spAutoFit/>
          </a:bodyPr>
          <a:lstStyle/>
          <a:p>
            <a:pPr algn="ctr"/>
            <a:r>
              <a:rPr sz="1300" b="1">
                <a:solidFill>
                  <a:srgbClr val="000014"/>
                </a:solidFill>
              </a:rPr>
              <a:t>Led by the Holy Spirit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2000" b="1">
                <a:solidFill>
                  <a:srgbClr val="FFFFFF"/>
                </a:solidFill>
                <a:latin typeface="Arial"/>
              </a:rPr>
              <a:t>WORSHIP</a:t>
            </a:r>
          </a:p>
        </p:txBody>
      </p:sp>
      <p:sp>
        <p:nvSpPr>
          <p:cNvPr id="5" name="TextBox 4"/>
          <p:cNvSpPr txBox="1"/>
          <p:nvPr/>
        </p:nvSpPr>
        <p:spPr>
          <a:xfrm>
            <a:off x="548640" y="914400"/>
            <a:ext cx="7132320" cy="1828800"/>
          </a:xfrm>
          <a:prstGeom prst="rect">
            <a:avLst/>
          </a:prstGeom>
          <a:noFill/>
        </p:spPr>
        <p:txBody>
          <a:bodyPr wrap="square">
            <a:spAutoFit/>
          </a:bodyPr>
          <a:lstStyle/>
          <a:p>
            <a:r>
              <a:rPr sz="2800" b="1">
                <a:solidFill>
                  <a:srgbClr val="FFFFFF"/>
                </a:solidFill>
                <a:latin typeface="Georgia"/>
              </a:rPr>
              <a:t>No Longer Slaves</a:t>
            </a:r>
          </a:p>
          <a:p>
            <a:pPr>
              <a:spcBef>
                <a:spcPts val="400"/>
              </a:spcBef>
            </a:pPr>
            <a:r>
              <a:rPr sz="1600" i="1" b="1">
                <a:solidFill>
                  <a:srgbClr val="28A0F0"/>
                </a:solidFill>
              </a:rPr>
              <a:t>Bethel Music</a:t>
            </a:r>
          </a:p>
          <a:p>
            <a:pPr>
              <a:spcBef>
                <a:spcPts val="600"/>
              </a:spcBef>
            </a:pPr>
            <a:r>
              <a:rPr sz="1400" b="1">
                <a:solidFill>
                  <a:srgbClr val="DCDCDC"/>
                </a:solidFill>
              </a:rPr>
              <a:t>From bondage to sonship — “I am a child of God” (8:15)</a:t>
            </a:r>
          </a:p>
        </p:txBody>
      </p:sp>
      <p:sp>
        <p:nvSpPr>
          <p:cNvPr id="6" name="TextBox 5"/>
          <p:cNvSpPr txBox="1"/>
          <p:nvPr/>
        </p:nvSpPr>
        <p:spPr>
          <a:xfrm>
            <a:off x="548640" y="3108960"/>
            <a:ext cx="7132320" cy="1828800"/>
          </a:xfrm>
          <a:prstGeom prst="rect">
            <a:avLst/>
          </a:prstGeom>
          <a:noFill/>
        </p:spPr>
        <p:txBody>
          <a:bodyPr wrap="square">
            <a:spAutoFit/>
          </a:bodyPr>
          <a:lstStyle/>
          <a:p>
            <a:r>
              <a:rPr sz="2800" b="1">
                <a:solidFill>
                  <a:srgbClr val="FFFFFF"/>
                </a:solidFill>
                <a:latin typeface="Georgia"/>
              </a:rPr>
              <a:t>Who You Say I Am</a:t>
            </a:r>
          </a:p>
          <a:p>
            <a:pPr>
              <a:spcBef>
                <a:spcPts val="400"/>
              </a:spcBef>
            </a:pPr>
            <a:r>
              <a:rPr sz="1600" i="1" b="1">
                <a:solidFill>
                  <a:srgbClr val="28A0F0"/>
                </a:solidFill>
              </a:rPr>
              <a:t>Hillsong Worship</a:t>
            </a:r>
          </a:p>
          <a:p>
            <a:pPr>
              <a:spcBef>
                <a:spcPts val="600"/>
              </a:spcBef>
            </a:pPr>
            <a:r>
              <a:rPr sz="1400" b="1">
                <a:solidFill>
                  <a:srgbClr val="DCDCDC"/>
                </a:solidFill>
              </a:rPr>
              <a:t>Identity as children and heirs of God (8:16-17)</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TextBox 7"/>
          <p:cNvSpPr txBox="1"/>
          <p:nvPr/>
        </p:nvSpPr>
        <p:spPr>
          <a:xfrm>
            <a:off x="548640" y="10241280"/>
            <a:ext cx="7132320" cy="1828800"/>
          </a:xfrm>
          <a:prstGeom prst="rect">
            <a:avLst/>
          </a:prstGeom>
          <a:noFill/>
        </p:spPr>
        <p:txBody>
          <a:bodyPr wrap="square">
            <a:spAutoFit/>
          </a:bodyPr>
          <a:lstStyle/>
          <a:p>
            <a:r>
              <a:rPr sz="2800" b="1">
                <a:solidFill>
                  <a:srgbClr val="FFFFFF"/>
                </a:solidFill>
                <a:latin typeface="Georgia"/>
              </a:rPr>
              <a:t>Way Maker</a:t>
            </a:r>
          </a:p>
          <a:p>
            <a:pPr>
              <a:spcBef>
                <a:spcPts val="400"/>
              </a:spcBef>
            </a:pPr>
            <a:r>
              <a:rPr sz="1600" i="1" b="1">
                <a:solidFill>
                  <a:srgbClr val="28A0F0"/>
                </a:solidFill>
              </a:rPr>
              <a:t>Sinach</a:t>
            </a:r>
          </a:p>
          <a:p>
            <a:pPr>
              <a:spcBef>
                <a:spcPts val="600"/>
              </a:spcBef>
            </a:pPr>
            <a:r>
              <a:rPr sz="1400" b="1">
                <a:solidFill>
                  <a:srgbClr val="DCDCDC"/>
                </a:solidFill>
              </a:rPr>
              <a:t>The Spirit intercedes and makes a way (8:26)</a:t>
            </a:r>
          </a:p>
        </p:txBody>
      </p:sp>
      <p:sp>
        <p:nvSpPr>
          <p:cNvPr id="9" name="TextBox 8"/>
          <p:cNvSpPr txBox="1"/>
          <p:nvPr/>
        </p:nvSpPr>
        <p:spPr>
          <a:xfrm>
            <a:off x="548640" y="12435840"/>
            <a:ext cx="7132320" cy="1828800"/>
          </a:xfrm>
          <a:prstGeom prst="rect">
            <a:avLst/>
          </a:prstGeom>
          <a:noFill/>
        </p:spPr>
        <p:txBody>
          <a:bodyPr wrap="square">
            <a:spAutoFit/>
          </a:bodyPr>
          <a:lstStyle/>
          <a:p>
            <a:r>
              <a:rPr sz="2800" b="1">
                <a:solidFill>
                  <a:srgbClr val="FFFFFF"/>
                </a:solidFill>
                <a:latin typeface="Georgia"/>
              </a:rPr>
              <a:t>Nothing Can Separate</a:t>
            </a:r>
          </a:p>
          <a:p>
            <a:pPr>
              <a:spcBef>
                <a:spcPts val="400"/>
              </a:spcBef>
            </a:pPr>
            <a:r>
              <a:rPr sz="1600" i="1" b="1">
                <a:solidFill>
                  <a:srgbClr val="28A0F0"/>
                </a:solidFill>
              </a:rPr>
              <a:t>Zach Williams</a:t>
            </a:r>
          </a:p>
          <a:p>
            <a:pPr>
              <a:spcBef>
                <a:spcPts val="600"/>
              </a:spcBef>
            </a:pPr>
            <a:r>
              <a:rPr sz="1400" b="1">
                <a:solidFill>
                  <a:srgbClr val="DCDCDC"/>
                </a:solidFill>
              </a:rPr>
              <a:t>Direct from 8:38-39 — the crescendo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No Condemnation</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8:1–2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 </a:t>
            </a:r>
            <a:r>
              <a:rPr sz="2200" b="1">
                <a:solidFill>
                  <a:srgbClr val="DCDCDC"/>
                </a:solidFill>
                <a:latin typeface="Georgia"/>
              </a:rPr>
              <a:t>There is therefore now no condemnation to those who are in Christ Jesus, who do not walk according to the flesh, but according to the Spirit.</a:t>
            </a:r>
          </a:p>
          <a:p>
            <a:pPr>
              <a:spcAft>
                <a:spcPts val="1000"/>
              </a:spcAft>
            </a:pPr>
            <a:r>
              <a:rPr sz="1500" b="1">
                <a:solidFill>
                  <a:srgbClr val="28A0F0"/>
                </a:solidFill>
                <a:latin typeface="Calibri"/>
              </a:rPr>
              <a:t>2 </a:t>
            </a:r>
            <a:r>
              <a:rPr sz="2200" b="1">
                <a:solidFill>
                  <a:srgbClr val="DCDCDC"/>
                </a:solidFill>
                <a:latin typeface="Georgia"/>
              </a:rPr>
              <a:t>For the law of the Spirit of life in Christ Jesus has made me free from the law of sin and death.</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God Sent His Son</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8:3–4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3 </a:t>
            </a:r>
            <a:r>
              <a:rPr sz="2200" b="1">
                <a:solidFill>
                  <a:srgbClr val="DCDCDC"/>
                </a:solidFill>
                <a:latin typeface="Georgia"/>
              </a:rPr>
              <a:t>For what the law could not do in that it was weak through the flesh, God did by sending His own Son in the likeness of sinful flesh, on account of sin: He condemned sin in the flesh,</a:t>
            </a:r>
          </a:p>
          <a:p>
            <a:pPr>
              <a:spcAft>
                <a:spcPts val="1000"/>
              </a:spcAft>
            </a:pPr>
            <a:r>
              <a:rPr sz="1500" b="1">
                <a:solidFill>
                  <a:srgbClr val="28A0F0"/>
                </a:solidFill>
                <a:latin typeface="Calibri"/>
              </a:rPr>
              <a:t>4 </a:t>
            </a:r>
            <a:r>
              <a:rPr sz="2200" b="1">
                <a:solidFill>
                  <a:srgbClr val="DCDCDC"/>
                </a:solidFill>
                <a:latin typeface="Georgia"/>
              </a:rPr>
              <a:t>that the righteous requirement of the law might be fulfilled in us who do not walk according to the flesh but according to the Spirit.</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Flesh vs. Spirit</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8:5–6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5 </a:t>
            </a:r>
            <a:r>
              <a:rPr sz="2200" b="1">
                <a:solidFill>
                  <a:srgbClr val="DCDCDC"/>
                </a:solidFill>
                <a:latin typeface="Georgia"/>
              </a:rPr>
              <a:t>For those who live according to the flesh set their minds on the things of the flesh, but those who live according to the Spirit, the things of the Spirit.</a:t>
            </a:r>
          </a:p>
          <a:p>
            <a:pPr>
              <a:spcAft>
                <a:spcPts val="1000"/>
              </a:spcAft>
            </a:pPr>
            <a:r>
              <a:rPr sz="1500" b="1">
                <a:solidFill>
                  <a:srgbClr val="28A0F0"/>
                </a:solidFill>
                <a:latin typeface="Calibri"/>
              </a:rPr>
              <a:t>6 </a:t>
            </a:r>
            <a:r>
              <a:rPr sz="2200" b="1">
                <a:solidFill>
                  <a:srgbClr val="DCDCDC"/>
                </a:solidFill>
                <a:latin typeface="Georgia"/>
              </a:rPr>
              <a:t>For to be carnally minded is death, but to be spiritually minded is life and peace.</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The Carnal Mind</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8:7–8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7 </a:t>
            </a:r>
            <a:r>
              <a:rPr sz="2200" b="1">
                <a:solidFill>
                  <a:srgbClr val="DCDCDC"/>
                </a:solidFill>
                <a:latin typeface="Georgia"/>
              </a:rPr>
              <a:t>Because the carnal mind is enmity against God; for it is not subject to the law of God, nor indeed can be.</a:t>
            </a:r>
          </a:p>
          <a:p>
            <a:pPr>
              <a:spcAft>
                <a:spcPts val="1000"/>
              </a:spcAft>
            </a:pPr>
            <a:r>
              <a:rPr sz="1500" b="1">
                <a:solidFill>
                  <a:srgbClr val="28A0F0"/>
                </a:solidFill>
                <a:latin typeface="Calibri"/>
              </a:rPr>
              <a:t>8 </a:t>
            </a:r>
            <a:r>
              <a:rPr sz="2200" b="1">
                <a:solidFill>
                  <a:srgbClr val="DCDCDC"/>
                </a:solidFill>
                <a:latin typeface="Georgia"/>
              </a:rPr>
              <a:t>So then, those who are in the flesh cannot please God.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The Spirit Dwells in You</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8:9–11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9 </a:t>
            </a:r>
            <a:r>
              <a:rPr sz="2200" b="1">
                <a:solidFill>
                  <a:srgbClr val="DCDCDC"/>
                </a:solidFill>
                <a:latin typeface="Georgia"/>
              </a:rPr>
              <a:t>But you are not in the flesh but in the Spirit, if indeed the Spirit of God dwells in you. Now if anyone does not have the Spirit of Christ, he is not His.</a:t>
            </a:r>
          </a:p>
          <a:p>
            <a:pPr>
              <a:spcAft>
                <a:spcPts val="1000"/>
              </a:spcAft>
            </a:pPr>
            <a:r>
              <a:rPr sz="1500" b="1">
                <a:solidFill>
                  <a:srgbClr val="28A0F0"/>
                </a:solidFill>
                <a:latin typeface="Calibri"/>
              </a:rPr>
              <a:t>10 </a:t>
            </a:r>
            <a:r>
              <a:rPr sz="2200" b="1">
                <a:solidFill>
                  <a:srgbClr val="DCDCDC"/>
                </a:solidFill>
                <a:latin typeface="Georgia"/>
              </a:rPr>
              <a:t>And if Christ is in you, the body is dead because of sin, but the Spirit is life because of righteousness.</a:t>
            </a:r>
          </a:p>
          <a:p>
            <a:pPr>
              <a:spcAft>
                <a:spcPts val="1000"/>
              </a:spcAft>
            </a:pPr>
            <a:r>
              <a:rPr sz="1500" b="1">
                <a:solidFill>
                  <a:srgbClr val="28A0F0"/>
                </a:solidFill>
                <a:latin typeface="Calibri"/>
              </a:rPr>
              <a:t>11 </a:t>
            </a:r>
            <a:r>
              <a:rPr sz="2200" b="1">
                <a:solidFill>
                  <a:srgbClr val="DCDCDC"/>
                </a:solidFill>
                <a:latin typeface="Georgia"/>
              </a:rPr>
              <a:t>But if the Spirit of Him who raised Jesus from the dead dwells in you, He who raised Christ from the dead will also give life to your mortal bodies through His Spirit who dwells in you.</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Led by the Spirit</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8:12–14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12 </a:t>
            </a:r>
            <a:r>
              <a:rPr sz="2200" b="1">
                <a:solidFill>
                  <a:srgbClr val="DCDCDC"/>
                </a:solidFill>
                <a:latin typeface="Georgia"/>
              </a:rPr>
              <a:t>Therefore, brethren, we are debtors—not to the flesh, to live according to the flesh.</a:t>
            </a:r>
          </a:p>
          <a:p>
            <a:pPr>
              <a:spcAft>
                <a:spcPts val="1000"/>
              </a:spcAft>
            </a:pPr>
            <a:r>
              <a:rPr sz="1500" b="1">
                <a:solidFill>
                  <a:srgbClr val="28A0F0"/>
                </a:solidFill>
                <a:latin typeface="Calibri"/>
              </a:rPr>
              <a:t>13 </a:t>
            </a:r>
            <a:r>
              <a:rPr sz="2200" b="1">
                <a:solidFill>
                  <a:srgbClr val="DCDCDC"/>
                </a:solidFill>
                <a:latin typeface="Georgia"/>
              </a:rPr>
              <a:t>For if you live according to the flesh you will die; but if by the Spirit you put to death the deeds of the body, you will live.</a:t>
            </a:r>
          </a:p>
          <a:p>
            <a:pPr>
              <a:spcAft>
                <a:spcPts val="1000"/>
              </a:spcAft>
            </a:pPr>
            <a:r>
              <a:rPr sz="1500" b="1">
                <a:solidFill>
                  <a:srgbClr val="28A0F0"/>
                </a:solidFill>
                <a:latin typeface="Calibri"/>
              </a:rPr>
              <a:t>14 </a:t>
            </a:r>
            <a:r>
              <a:rPr sz="2200" b="1">
                <a:solidFill>
                  <a:srgbClr val="DCDCDC"/>
                </a:solidFill>
                <a:latin typeface="Georgia"/>
              </a:rPr>
              <a:t>For as many as are led by the Spirit of God, these are sons of God.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Abba, Father</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8:15–17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15 </a:t>
            </a:r>
            <a:r>
              <a:rPr sz="2200" b="1">
                <a:solidFill>
                  <a:srgbClr val="DCDCDC"/>
                </a:solidFill>
                <a:latin typeface="Georgia"/>
              </a:rPr>
              <a:t>For you did not receive the spirit of bondage again to fear, but you received the Spirit of adoption by whom we cry out, “Abba, Father.”</a:t>
            </a:r>
          </a:p>
          <a:p>
            <a:pPr>
              <a:spcAft>
                <a:spcPts val="1000"/>
              </a:spcAft>
            </a:pPr>
            <a:r>
              <a:rPr sz="1500" b="1">
                <a:solidFill>
                  <a:srgbClr val="28A0F0"/>
                </a:solidFill>
                <a:latin typeface="Calibri"/>
              </a:rPr>
              <a:t>16 </a:t>
            </a:r>
            <a:r>
              <a:rPr sz="2200" b="1">
                <a:solidFill>
                  <a:srgbClr val="DCDCDC"/>
                </a:solidFill>
                <a:latin typeface="Georgia"/>
              </a:rPr>
              <a:t>The Spirit Himself bears witness with our spirit that we are children of God,</a:t>
            </a:r>
          </a:p>
          <a:p>
            <a:pPr>
              <a:spcAft>
                <a:spcPts val="1000"/>
              </a:spcAft>
            </a:pPr>
            <a:r>
              <a:rPr sz="1500" b="1">
                <a:solidFill>
                  <a:srgbClr val="28A0F0"/>
                </a:solidFill>
                <a:latin typeface="Calibri"/>
              </a:rPr>
              <a:t>17 </a:t>
            </a:r>
            <a:r>
              <a:rPr sz="2200" b="1">
                <a:solidFill>
                  <a:srgbClr val="DCDCDC"/>
                </a:solidFill>
                <a:latin typeface="Georgia"/>
              </a:rPr>
              <a:t>and if children, then heirs—heirs of God and joint heirs with Christ, if indeed we suffer with Him, that we may also be glorified together.</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Future Glory</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8:18–21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18 </a:t>
            </a:r>
            <a:r>
              <a:rPr sz="2200" b="1">
                <a:solidFill>
                  <a:srgbClr val="DCDCDC"/>
                </a:solidFill>
                <a:latin typeface="Georgia"/>
              </a:rPr>
              <a:t>For I consider that the sufferings of this present time are not worthy to be compared with the glory which shall be revealed in us.</a:t>
            </a:r>
          </a:p>
          <a:p>
            <a:pPr>
              <a:spcAft>
                <a:spcPts val="1000"/>
              </a:spcAft>
            </a:pPr>
            <a:r>
              <a:rPr sz="1500" b="1">
                <a:solidFill>
                  <a:srgbClr val="28A0F0"/>
                </a:solidFill>
                <a:latin typeface="Calibri"/>
              </a:rPr>
              <a:t>19 </a:t>
            </a:r>
            <a:r>
              <a:rPr sz="2200" b="1">
                <a:solidFill>
                  <a:srgbClr val="DCDCDC"/>
                </a:solidFill>
                <a:latin typeface="Georgia"/>
              </a:rPr>
              <a:t>For the earnest expectation of the creation eagerly waits for the revealing of the sons of God.</a:t>
            </a:r>
          </a:p>
          <a:p>
            <a:pPr>
              <a:spcAft>
                <a:spcPts val="1000"/>
              </a:spcAft>
            </a:pPr>
            <a:r>
              <a:rPr sz="1500" b="1">
                <a:solidFill>
                  <a:srgbClr val="28A0F0"/>
                </a:solidFill>
                <a:latin typeface="Calibri"/>
              </a:rPr>
              <a:t>20 </a:t>
            </a:r>
            <a:r>
              <a:rPr sz="2200" b="1">
                <a:solidFill>
                  <a:srgbClr val="DCDCDC"/>
                </a:solidFill>
                <a:latin typeface="Georgia"/>
              </a:rPr>
              <a:t>For the creation was subjected to futility, not willingly, but because of Him who subjected it in hope;</a:t>
            </a:r>
          </a:p>
          <a:p>
            <a:pPr>
              <a:spcAft>
                <a:spcPts val="1000"/>
              </a:spcAft>
            </a:pPr>
            <a:r>
              <a:rPr sz="1500" b="1">
                <a:solidFill>
                  <a:srgbClr val="28A0F0"/>
                </a:solidFill>
                <a:latin typeface="Calibri"/>
              </a:rPr>
              <a:t>21 </a:t>
            </a:r>
            <a:r>
              <a:rPr sz="2200" b="1">
                <a:solidFill>
                  <a:srgbClr val="DCDCDC"/>
                </a:solidFill>
                <a:latin typeface="Georgia"/>
              </a:rPr>
              <a:t>because the creation itself also will be delivered from the bondage of corruption into the glorious liberty of the children of God.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Groaning for Redemption</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8:22–25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22 </a:t>
            </a:r>
            <a:r>
              <a:rPr sz="2200" b="1">
                <a:solidFill>
                  <a:srgbClr val="DCDCDC"/>
                </a:solidFill>
                <a:latin typeface="Georgia"/>
              </a:rPr>
              <a:t>For we know that the whole creation groans and labors with birth pangs together until now.</a:t>
            </a:r>
          </a:p>
          <a:p>
            <a:pPr>
              <a:spcAft>
                <a:spcPts val="1000"/>
              </a:spcAft>
            </a:pPr>
            <a:r>
              <a:rPr sz="1500" b="1">
                <a:solidFill>
                  <a:srgbClr val="28A0F0"/>
                </a:solidFill>
                <a:latin typeface="Calibri"/>
              </a:rPr>
              <a:t>23 </a:t>
            </a:r>
            <a:r>
              <a:rPr sz="2200" b="1">
                <a:solidFill>
                  <a:srgbClr val="DCDCDC"/>
                </a:solidFill>
                <a:latin typeface="Georgia"/>
              </a:rPr>
              <a:t>Not only that, but we also who have the firstfruits of the Spirit, even we ourselves groan within ourselves, eagerly waiting for the adoption, the redemption of our body.</a:t>
            </a:r>
          </a:p>
          <a:p>
            <a:pPr>
              <a:spcAft>
                <a:spcPts val="1000"/>
              </a:spcAft>
            </a:pPr>
            <a:r>
              <a:rPr sz="1500" b="1">
                <a:solidFill>
                  <a:srgbClr val="28A0F0"/>
                </a:solidFill>
                <a:latin typeface="Calibri"/>
              </a:rPr>
              <a:t>24 </a:t>
            </a:r>
            <a:r>
              <a:rPr sz="2200" b="1">
                <a:solidFill>
                  <a:srgbClr val="DCDCDC"/>
                </a:solidFill>
                <a:latin typeface="Georgia"/>
              </a:rPr>
              <a:t>For we were saved in this hope, but hope that is seen is not hope; for why does one still hope for what he sees?</a:t>
            </a:r>
          </a:p>
          <a:p>
            <a:pPr>
              <a:spcAft>
                <a:spcPts val="1000"/>
              </a:spcAft>
            </a:pPr>
            <a:r>
              <a:rPr sz="1500" b="1">
                <a:solidFill>
                  <a:srgbClr val="28A0F0"/>
                </a:solidFill>
                <a:latin typeface="Calibri"/>
              </a:rPr>
              <a:t>25 </a:t>
            </a:r>
            <a:r>
              <a:rPr sz="2200" b="1">
                <a:solidFill>
                  <a:srgbClr val="DCDCDC"/>
                </a:solidFill>
                <a:latin typeface="Georgia"/>
              </a:rPr>
              <a:t>But if we hope for what we do not see, we eagerly wait for it with perseverance.</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The Spirit Intercedes</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8:26–27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26 </a:t>
            </a:r>
            <a:r>
              <a:rPr sz="2200" b="1">
                <a:solidFill>
                  <a:srgbClr val="DCDCDC"/>
                </a:solidFill>
                <a:latin typeface="Georgia"/>
              </a:rPr>
              <a:t>Likewise the Spirit also helps in our weaknesses. For we do not know what we should pray for as we ought, but the Spirit Himself makes intercession for us with groanings which cannot be uttered.</a:t>
            </a:r>
          </a:p>
          <a:p>
            <a:pPr>
              <a:spcAft>
                <a:spcPts val="1000"/>
              </a:spcAft>
            </a:pPr>
            <a:r>
              <a:rPr sz="1500" b="1">
                <a:solidFill>
                  <a:srgbClr val="28A0F0"/>
                </a:solidFill>
                <a:latin typeface="Calibri"/>
              </a:rPr>
              <a:t>27 </a:t>
            </a:r>
            <a:r>
              <a:rPr sz="2200" b="1">
                <a:solidFill>
                  <a:srgbClr val="DCDCDC"/>
                </a:solidFill>
                <a:latin typeface="Georgia"/>
              </a:rPr>
              <a:t>Now He who searches the hearts knows what the mind of the Spirit is, because He makes intercession for the saints according to the will of God.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Called According to His Purpose</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8:28–30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28 </a:t>
            </a:r>
            <a:r>
              <a:rPr sz="2200" b="1">
                <a:solidFill>
                  <a:srgbClr val="DCDCDC"/>
                </a:solidFill>
                <a:latin typeface="Georgia"/>
              </a:rPr>
              <a:t>And we know that all things work together for good to those who love God, to those who are the called according to His purpose.</a:t>
            </a:r>
          </a:p>
          <a:p>
            <a:pPr>
              <a:spcAft>
                <a:spcPts val="1000"/>
              </a:spcAft>
            </a:pPr>
            <a:r>
              <a:rPr sz="1500" b="1">
                <a:solidFill>
                  <a:srgbClr val="28A0F0"/>
                </a:solidFill>
                <a:latin typeface="Calibri"/>
              </a:rPr>
              <a:t>29 </a:t>
            </a:r>
            <a:r>
              <a:rPr sz="2200" b="1">
                <a:solidFill>
                  <a:srgbClr val="DCDCDC"/>
                </a:solidFill>
                <a:latin typeface="Georgia"/>
              </a:rPr>
              <a:t>For whom He foreknew, He also predestined to be conformed to the image of His Son, that He might be the firstborn among many brethren.</a:t>
            </a:r>
          </a:p>
          <a:p>
            <a:pPr>
              <a:spcAft>
                <a:spcPts val="1000"/>
              </a:spcAft>
            </a:pPr>
            <a:r>
              <a:rPr sz="1500" b="1">
                <a:solidFill>
                  <a:srgbClr val="28A0F0"/>
                </a:solidFill>
                <a:latin typeface="Calibri"/>
              </a:rPr>
              <a:t>30 </a:t>
            </a:r>
            <a:r>
              <a:rPr sz="2200" b="1">
                <a:solidFill>
                  <a:srgbClr val="DCDCDC"/>
                </a:solidFill>
                <a:latin typeface="Georgia"/>
              </a:rPr>
              <a:t>Moreover whom He predestined, these He also called; whom He called, these He also justified; and whom He justified, these He also glorified.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If God Is for Us</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8:31–34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31 </a:t>
            </a:r>
            <a:r>
              <a:rPr sz="2200" b="1">
                <a:solidFill>
                  <a:srgbClr val="DCDCDC"/>
                </a:solidFill>
                <a:latin typeface="Georgia"/>
              </a:rPr>
              <a:t>What then shall we say to these things? If God is for us, who can be against us?</a:t>
            </a:r>
          </a:p>
          <a:p>
            <a:pPr>
              <a:spcAft>
                <a:spcPts val="1000"/>
              </a:spcAft>
            </a:pPr>
            <a:r>
              <a:rPr sz="1500" b="1">
                <a:solidFill>
                  <a:srgbClr val="28A0F0"/>
                </a:solidFill>
                <a:latin typeface="Calibri"/>
              </a:rPr>
              <a:t>32 </a:t>
            </a:r>
            <a:r>
              <a:rPr sz="2200" b="1">
                <a:solidFill>
                  <a:srgbClr val="DCDCDC"/>
                </a:solidFill>
                <a:latin typeface="Georgia"/>
              </a:rPr>
              <a:t>He who did not spare His own Son, but delivered Him up for us all, how shall He not with Him also freely give us all things?</a:t>
            </a:r>
          </a:p>
          <a:p>
            <a:pPr>
              <a:spcAft>
                <a:spcPts val="1000"/>
              </a:spcAft>
            </a:pPr>
            <a:r>
              <a:rPr sz="1500" b="1">
                <a:solidFill>
                  <a:srgbClr val="28A0F0"/>
                </a:solidFill>
                <a:latin typeface="Calibri"/>
              </a:rPr>
              <a:t>33 </a:t>
            </a:r>
            <a:r>
              <a:rPr sz="2200" b="1">
                <a:solidFill>
                  <a:srgbClr val="DCDCDC"/>
                </a:solidFill>
                <a:latin typeface="Georgia"/>
              </a:rPr>
              <a:t>Who shall bring a charge against God’s elect? It is God who justifies.</a:t>
            </a:r>
          </a:p>
          <a:p>
            <a:pPr>
              <a:spcAft>
                <a:spcPts val="1000"/>
              </a:spcAft>
            </a:pPr>
            <a:r>
              <a:rPr sz="1500" b="1">
                <a:solidFill>
                  <a:srgbClr val="28A0F0"/>
                </a:solidFill>
                <a:latin typeface="Calibri"/>
              </a:rPr>
              <a:t>34 </a:t>
            </a:r>
            <a:r>
              <a:rPr sz="2200" b="1">
                <a:solidFill>
                  <a:srgbClr val="DCDCDC"/>
                </a:solidFill>
                <a:latin typeface="Georgia"/>
              </a:rPr>
              <a:t>Who is he who condemns? It is Christ who died, and furthermore is also risen, who is even at the right hand of God, who also makes intercession for us.</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More Than Conquerors</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8:35–37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35 </a:t>
            </a:r>
            <a:r>
              <a:rPr sz="2200" b="1">
                <a:solidFill>
                  <a:srgbClr val="DCDCDC"/>
                </a:solidFill>
                <a:latin typeface="Georgia"/>
              </a:rPr>
              <a:t>Who shall separate us from the love of Christ? Shall tribulation, or distress, or persecution, or famine, or nakedness, or peril, or sword?</a:t>
            </a:r>
          </a:p>
          <a:p>
            <a:pPr>
              <a:spcAft>
                <a:spcPts val="1000"/>
              </a:spcAft>
            </a:pPr>
            <a:r>
              <a:rPr sz="1500" b="1">
                <a:solidFill>
                  <a:srgbClr val="28A0F0"/>
                </a:solidFill>
                <a:latin typeface="Calibri"/>
              </a:rPr>
              <a:t>36 </a:t>
            </a:r>
            <a:r>
              <a:rPr sz="2200" b="1">
                <a:solidFill>
                  <a:srgbClr val="DCDCDC"/>
                </a:solidFill>
                <a:latin typeface="Georgia"/>
              </a:rPr>
              <a:t>As it is written: “For Your sake we are killed all day long; we are accounted as sheep for the slaughter.”</a:t>
            </a:r>
          </a:p>
          <a:p>
            <a:pPr>
              <a:spcAft>
                <a:spcPts val="1000"/>
              </a:spcAft>
            </a:pPr>
            <a:r>
              <a:rPr sz="1500" b="1">
                <a:solidFill>
                  <a:srgbClr val="28A0F0"/>
                </a:solidFill>
                <a:latin typeface="Calibri"/>
              </a:rPr>
              <a:t>37 </a:t>
            </a:r>
            <a:r>
              <a:rPr sz="2200" b="1">
                <a:solidFill>
                  <a:srgbClr val="DCDCDC"/>
                </a:solidFill>
                <a:latin typeface="Georgia"/>
              </a:rPr>
              <a:t>Yet in all these things we are more than conquerors through Him who loved us.</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5029200" cy="411480"/>
          </a:xfrm>
          <a:prstGeom prst="rect">
            <a:avLst/>
          </a:prstGeom>
          <a:noFill/>
        </p:spPr>
        <p:txBody>
          <a:bodyPr wrap="none" anchor="ctr">
            <a:spAutoFit/>
          </a:bodyPr>
          <a:lstStyle/>
          <a:p>
            <a:pPr algn="l"/>
            <a:r>
              <a:rPr sz="1800" b="1">
                <a:solidFill>
                  <a:srgbClr val="FFFFFF"/>
                </a:solidFill>
                <a:latin typeface="Arial"/>
              </a:rPr>
              <a:t>  Nothing Can Separate Us</a:t>
            </a:r>
          </a:p>
        </p:txBody>
      </p:sp>
      <p:sp>
        <p:nvSpPr>
          <p:cNvPr id="5" name="TextBox 4"/>
          <p:cNvSpPr txBox="1"/>
          <p:nvPr/>
        </p:nvSpPr>
        <p:spPr>
          <a:xfrm>
            <a:off x="5029200" y="73152"/>
            <a:ext cx="2926080" cy="411480"/>
          </a:xfrm>
          <a:prstGeom prst="rect">
            <a:avLst/>
          </a:prstGeom>
          <a:noFill/>
        </p:spPr>
        <p:txBody>
          <a:bodyPr wrap="none" anchor="ctr">
            <a:spAutoFit/>
          </a:bodyPr>
          <a:lstStyle/>
          <a:p>
            <a:pPr algn="r"/>
            <a:r>
              <a:rPr sz="1500" b="1">
                <a:solidFill>
                  <a:srgbClr val="CCDDFF"/>
                </a:solidFill>
              </a:rPr>
              <a:t>Romans 8:38–39  </a:t>
            </a:r>
          </a:p>
        </p:txBody>
      </p:sp>
      <p:sp>
        <p:nvSpPr>
          <p:cNvPr id="6" name="TextBox 5"/>
          <p:cNvSpPr txBox="1"/>
          <p:nvPr/>
        </p:nvSpPr>
        <p:spPr>
          <a:xfrm>
            <a:off x="457200" y="685800"/>
            <a:ext cx="7315200" cy="4480560"/>
          </a:xfrm>
          <a:prstGeom prst="rect">
            <a:avLst/>
          </a:prstGeom>
          <a:noFill/>
        </p:spPr>
        <p:txBody>
          <a:bodyPr wrap="square">
            <a:spAutoFit/>
          </a:bodyPr>
          <a:lstStyle/>
          <a:p>
            <a:pPr>
              <a:spcAft>
                <a:spcPts val="1000"/>
              </a:spcAft>
            </a:pPr>
            <a:r>
              <a:rPr sz="1500" b="1">
                <a:solidFill>
                  <a:srgbClr val="28A0F0"/>
                </a:solidFill>
                <a:latin typeface="Calibri"/>
              </a:rPr>
              <a:t>38 </a:t>
            </a:r>
            <a:r>
              <a:rPr sz="2200" b="1">
                <a:solidFill>
                  <a:srgbClr val="DCDCDC"/>
                </a:solidFill>
                <a:latin typeface="Georgia"/>
              </a:rPr>
              <a:t>For I am persuaded that neither death nor life, nor angels nor principalities nor powers, nor things present nor things to come,</a:t>
            </a:r>
          </a:p>
          <a:p>
            <a:pPr>
              <a:spcAft>
                <a:spcPts val="1000"/>
              </a:spcAft>
            </a:pPr>
            <a:r>
              <a:rPr sz="1500" b="1">
                <a:solidFill>
                  <a:srgbClr val="28A0F0"/>
                </a:solidFill>
                <a:latin typeface="Calibri"/>
              </a:rPr>
              <a:t>39 </a:t>
            </a:r>
            <a:r>
              <a:rPr sz="2200" b="1">
                <a:solidFill>
                  <a:srgbClr val="DCDCDC"/>
                </a:solidFill>
                <a:latin typeface="Georgia"/>
              </a:rPr>
              <a:t>nor height nor depth, nor any other created thing, shall be able to separate us from the love of God which is in Christ Jesus our Lord.</a:t>
            </a:r>
          </a:p>
        </p:txBody>
      </p:sp>
      <p:sp>
        <p:nvSpPr>
          <p:cNvPr id="7" name="Rounded Rectangle 6"/>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sp>
        <p:nvSpPr>
          <p:cNvPr id="8" name="Rectangle 7"/>
          <p:cNvSpPr/>
          <p:nvPr/>
        </p:nvSpPr>
        <p:spPr>
          <a:xfrm>
            <a:off x="457200" y="10149840"/>
            <a:ext cx="73152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287000"/>
            <a:ext cx="7315200" cy="457200"/>
          </a:xfrm>
          <a:prstGeom prst="rect">
            <a:avLst/>
          </a:prstGeom>
          <a:noFill/>
        </p:spPr>
        <p:txBody>
          <a:bodyPr wrap="none">
            <a:spAutoFit/>
          </a:bodyPr>
          <a:lstStyle/>
          <a:p>
            <a:r>
              <a:rPr sz="1800" b="1">
                <a:solidFill>
                  <a:srgbClr val="FFFFFF"/>
                </a:solidFill>
                <a:latin typeface="Arial"/>
              </a:rPr>
              <a:t>APPLICATION</a:t>
            </a:r>
          </a:p>
        </p:txBody>
      </p:sp>
      <p:sp>
        <p:nvSpPr>
          <p:cNvPr id="10" name="TextBox 9"/>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800" b="1">
                <a:solidFill>
                  <a:srgbClr val="FFFFFF"/>
                </a:solidFill>
                <a:latin typeface="Arial"/>
              </a:rPr>
              <a:t>BIBLE BINGO</a:t>
            </a:r>
          </a:p>
        </p:txBody>
      </p:sp>
      <p:sp>
        <p:nvSpPr>
          <p:cNvPr id="5" name="TextBox 4"/>
          <p:cNvSpPr txBox="1"/>
          <p:nvPr/>
        </p:nvSpPr>
        <p:spPr>
          <a:xfrm>
            <a:off x="457200" y="1371600"/>
            <a:ext cx="7315200" cy="3200400"/>
          </a:xfrm>
          <a:prstGeom prst="rect">
            <a:avLst/>
          </a:prstGeom>
          <a:noFill/>
        </p:spPr>
        <p:txBody>
          <a:bodyPr wrap="square">
            <a:spAutoFit/>
          </a:bodyPr>
          <a:lstStyle/>
          <a:p>
            <a:pPr algn="ctr"/>
            <a:r>
              <a:rPr sz="4800" b="1">
                <a:solidFill>
                  <a:srgbClr val="FFFFFF"/>
                </a:solidFill>
                <a:latin typeface="Georgia"/>
              </a:rPr>
              <a:t>Bible Bingo</a:t>
            </a:r>
          </a:p>
          <a:p>
            <a:pPr algn="ctr">
              <a:spcBef>
                <a:spcPts val="1400"/>
              </a:spcBef>
            </a:pPr>
            <a:r>
              <a:rPr sz="2200" b="1" i="1">
                <a:solidFill>
                  <a:srgbClr val="28A0F0"/>
                </a:solidFill>
                <a:latin typeface="Georgia"/>
              </a:rPr>
              <a:t>Play along during the teaching!</a:t>
            </a:r>
          </a:p>
          <a:p>
            <a:pPr algn="ctr">
              <a:spcBef>
                <a:spcPts val="2000"/>
              </a:spcBef>
            </a:pPr>
            <a:r>
              <a:rPr sz="2600" b="1">
                <a:solidFill>
                  <a:srgbClr val="DCDCDC"/>
                </a:solidFill>
                <a:latin typeface="Georgia"/>
              </a:rPr>
              <a:t>Scan to Play</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pic>
        <p:nvPicPr>
          <p:cNvPr id="7" name="Picture 6" descr="image.png"/>
          <p:cNvPicPr>
            <a:picLocks noChangeAspect="1"/>
          </p:cNvPicPr>
          <p:nvPr/>
        </p:nvPicPr>
        <p:blipFill>
          <a:blip r:embed="rId2"/>
          <a:stretch>
            <a:fillRect/>
          </a:stretch>
        </p:blipFill>
        <p:spPr>
          <a:xfrm>
            <a:off x="365760" y="10241280"/>
            <a:ext cx="3200400" cy="3200400"/>
          </a:xfrm>
          <a:prstGeom prst="rect">
            <a:avLst/>
          </a:prstGeom>
        </p:spPr>
      </p:pic>
      <p:sp>
        <p:nvSpPr>
          <p:cNvPr id="8" name="TextBox 7"/>
          <p:cNvSpPr txBox="1"/>
          <p:nvPr/>
        </p:nvSpPr>
        <p:spPr>
          <a:xfrm>
            <a:off x="3840480" y="10515600"/>
            <a:ext cx="4114800" cy="2743200"/>
          </a:xfrm>
          <a:prstGeom prst="rect">
            <a:avLst/>
          </a:prstGeom>
          <a:noFill/>
        </p:spPr>
        <p:txBody>
          <a:bodyPr wrap="square">
            <a:spAutoFit/>
          </a:bodyPr>
          <a:lstStyle/>
          <a:p>
            <a:pPr algn="l"/>
            <a:r>
              <a:rPr sz="3600" b="1">
                <a:solidFill>
                  <a:srgbClr val="FFFFFF"/>
                </a:solidFill>
                <a:latin typeface="Georgia"/>
              </a:rPr>
              <a:t>Scan the
QR Code</a:t>
            </a:r>
          </a:p>
          <a:p>
            <a:pPr algn="l">
              <a:spcBef>
                <a:spcPts val="1600"/>
              </a:spcBef>
            </a:pPr>
            <a:r>
              <a:rPr sz="1200" b="1">
                <a:solidFill>
                  <a:srgbClr val="28A0F0"/>
                </a:solidFill>
              </a:rPr>
              <a:t>https://staytheway.com/teachings/romans-8/bingo.html</a:t>
            </a:r>
          </a:p>
        </p:txBody>
      </p:sp>
      <p:sp>
        <p:nvSpPr>
          <p:cNvPr id="9" name="TextBox 8"/>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800" b="1">
                <a:solidFill>
                  <a:srgbClr val="FFFFFF"/>
                </a:solidFill>
                <a:latin typeface="Arial"/>
              </a:rPr>
              <a:t>PRAYER REQUEST</a:t>
            </a:r>
          </a:p>
        </p:txBody>
      </p:sp>
      <p:sp>
        <p:nvSpPr>
          <p:cNvPr id="5" name="TextBox 4"/>
          <p:cNvSpPr txBox="1"/>
          <p:nvPr/>
        </p:nvSpPr>
        <p:spPr>
          <a:xfrm>
            <a:off x="457200" y="1371600"/>
            <a:ext cx="7315200" cy="3200400"/>
          </a:xfrm>
          <a:prstGeom prst="rect">
            <a:avLst/>
          </a:prstGeom>
          <a:noFill/>
        </p:spPr>
        <p:txBody>
          <a:bodyPr wrap="square">
            <a:spAutoFit/>
          </a:bodyPr>
          <a:lstStyle/>
          <a:p>
            <a:pPr algn="ctr"/>
            <a:r>
              <a:rPr sz="4800" b="1">
                <a:solidFill>
                  <a:srgbClr val="FFFFFF"/>
                </a:solidFill>
                <a:latin typeface="Georgia"/>
              </a:rPr>
              <a:t>Prayer Request</a:t>
            </a:r>
          </a:p>
          <a:p>
            <a:pPr algn="ctr">
              <a:spcBef>
                <a:spcPts val="1400"/>
              </a:spcBef>
            </a:pPr>
            <a:r>
              <a:rPr sz="2200" b="1" i="1">
                <a:solidFill>
                  <a:srgbClr val="28A0F0"/>
                </a:solidFill>
                <a:latin typeface="Georgia"/>
              </a:rPr>
              <a:t>We want to pray for you</a:t>
            </a:r>
          </a:p>
          <a:p>
            <a:pPr algn="ctr">
              <a:spcBef>
                <a:spcPts val="2000"/>
              </a:spcBef>
            </a:pPr>
            <a:r>
              <a:rPr sz="2600" b="1">
                <a:solidFill>
                  <a:srgbClr val="DCDCDC"/>
                </a:solidFill>
                <a:latin typeface="Georgia"/>
              </a:rPr>
              <a:t>Scan to Submit Your Prayer</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pic>
        <p:nvPicPr>
          <p:cNvPr id="7" name="Picture 6" descr="image.png"/>
          <p:cNvPicPr>
            <a:picLocks noChangeAspect="1"/>
          </p:cNvPicPr>
          <p:nvPr/>
        </p:nvPicPr>
        <p:blipFill>
          <a:blip r:embed="rId2"/>
          <a:stretch>
            <a:fillRect/>
          </a:stretch>
        </p:blipFill>
        <p:spPr>
          <a:xfrm>
            <a:off x="365760" y="10241280"/>
            <a:ext cx="3200400" cy="3200400"/>
          </a:xfrm>
          <a:prstGeom prst="rect">
            <a:avLst/>
          </a:prstGeom>
        </p:spPr>
      </p:pic>
      <p:sp>
        <p:nvSpPr>
          <p:cNvPr id="8" name="TextBox 7"/>
          <p:cNvSpPr txBox="1"/>
          <p:nvPr/>
        </p:nvSpPr>
        <p:spPr>
          <a:xfrm>
            <a:off x="3840480" y="10515600"/>
            <a:ext cx="4114800" cy="2743200"/>
          </a:xfrm>
          <a:prstGeom prst="rect">
            <a:avLst/>
          </a:prstGeom>
          <a:noFill/>
        </p:spPr>
        <p:txBody>
          <a:bodyPr wrap="square">
            <a:spAutoFit/>
          </a:bodyPr>
          <a:lstStyle/>
          <a:p>
            <a:pPr algn="l"/>
            <a:r>
              <a:rPr sz="3600" b="1">
                <a:solidFill>
                  <a:srgbClr val="FFFFFF"/>
                </a:solidFill>
                <a:latin typeface="Georgia"/>
              </a:rPr>
              <a:t>Scan the
QR Code</a:t>
            </a:r>
          </a:p>
          <a:p>
            <a:pPr algn="l">
              <a:spcBef>
                <a:spcPts val="1600"/>
              </a:spcBef>
            </a:pPr>
            <a:r>
              <a:rPr sz="1200" b="1">
                <a:solidFill>
                  <a:srgbClr val="28A0F0"/>
                </a:solidFill>
              </a:rPr>
              <a:t>https://staytheway.com/teachings/romans-8/prayer.html</a:t>
            </a:r>
          </a:p>
        </p:txBody>
      </p:sp>
      <p:sp>
        <p:nvSpPr>
          <p:cNvPr id="9" name="TextBox 8"/>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14"/>
        </a:solidFill>
        <a:effectLst/>
      </p:bgPr>
    </p:bg>
    <p:spTree>
      <p:nvGrpSpPr>
        <p:cNvPr id="1" name=""/>
        <p:cNvGrpSpPr/>
        <p:nvPr/>
      </p:nvGrpSpPr>
      <p:grpSpPr/>
      <p:sp>
        <p:nvSpPr>
          <p:cNvPr id="2" name="Rectangle 1"/>
          <p:cNvSpPr/>
          <p:nvPr/>
        </p:nvSpPr>
        <p:spPr>
          <a:xfrm>
            <a:off x="0" y="0"/>
            <a:ext cx="8229600" cy="502920"/>
          </a:xfrm>
          <a:prstGeom prst="rect">
            <a:avLst/>
          </a:prstGeom>
          <a:solidFill>
            <a:srgbClr val="147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127480"/>
            <a:ext cx="82296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73152"/>
            <a:ext cx="7680960" cy="411480"/>
          </a:xfrm>
          <a:prstGeom prst="rect">
            <a:avLst/>
          </a:prstGeom>
          <a:noFill/>
        </p:spPr>
        <p:txBody>
          <a:bodyPr wrap="none" anchor="ctr">
            <a:spAutoFit/>
          </a:bodyPr>
          <a:lstStyle/>
          <a:p>
            <a:pPr algn="ctr"/>
            <a:r>
              <a:rPr sz="1800" b="1">
                <a:solidFill>
                  <a:srgbClr val="FFFFFF"/>
                </a:solidFill>
                <a:latin typeface="Arial"/>
              </a:rPr>
              <a:t>TAKE THE QUIZ</a:t>
            </a:r>
          </a:p>
        </p:txBody>
      </p:sp>
      <p:sp>
        <p:nvSpPr>
          <p:cNvPr id="5" name="TextBox 4"/>
          <p:cNvSpPr txBox="1"/>
          <p:nvPr/>
        </p:nvSpPr>
        <p:spPr>
          <a:xfrm>
            <a:off x="457200" y="1371600"/>
            <a:ext cx="7315200" cy="3200400"/>
          </a:xfrm>
          <a:prstGeom prst="rect">
            <a:avLst/>
          </a:prstGeom>
          <a:noFill/>
        </p:spPr>
        <p:txBody>
          <a:bodyPr wrap="square">
            <a:spAutoFit/>
          </a:bodyPr>
          <a:lstStyle/>
          <a:p>
            <a:pPr algn="ctr"/>
            <a:r>
              <a:rPr sz="4800" b="1">
                <a:solidFill>
                  <a:srgbClr val="FFFFFF"/>
                </a:solidFill>
                <a:latin typeface="Georgia"/>
              </a:rPr>
              <a:t>Take the Quiz</a:t>
            </a:r>
          </a:p>
          <a:p>
            <a:pPr algn="ctr">
              <a:spcBef>
                <a:spcPts val="1400"/>
              </a:spcBef>
            </a:pPr>
            <a:r>
              <a:rPr sz="2200" b="1" i="1">
                <a:solidFill>
                  <a:srgbClr val="28A0F0"/>
                </a:solidFill>
                <a:latin typeface="Georgia"/>
              </a:rPr>
              <a:t>Test what you learned today!</a:t>
            </a:r>
          </a:p>
          <a:p>
            <a:pPr algn="ctr">
              <a:spcBef>
                <a:spcPts val="2000"/>
              </a:spcBef>
            </a:pPr>
            <a:r>
              <a:rPr sz="2600" b="1">
                <a:solidFill>
                  <a:srgbClr val="DCDCDC"/>
                </a:solidFill>
                <a:latin typeface="Georgia"/>
              </a:rPr>
              <a:t>Scan to Take the Quiz</a:t>
            </a:r>
          </a:p>
        </p:txBody>
      </p:sp>
      <p:sp>
        <p:nvSpPr>
          <p:cNvPr id="6" name="Rounded Rectangle 5"/>
          <p:cNvSpPr/>
          <p:nvPr/>
        </p:nvSpPr>
        <p:spPr>
          <a:xfrm>
            <a:off x="0" y="5349240"/>
            <a:ext cx="8229600" cy="4617720"/>
          </a:xfrm>
          <a:prstGeom prst="roundRect">
            <a:avLst/>
          </a:prstGeom>
          <a:solidFill>
            <a:srgbClr val="06112B"/>
          </a:solidFill>
          <a:ln w="25400">
            <a:solidFill>
              <a:srgbClr val="147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400" b="1">
                <a:solidFill>
                  <a:srgbClr val="9BB6D4"/>
                </a:solidFill>
              </a:rPr>
              <a:t>CAMERA</a:t>
            </a:r>
          </a:p>
        </p:txBody>
      </p:sp>
      <p:pic>
        <p:nvPicPr>
          <p:cNvPr id="7" name="Picture 6" descr="image.png"/>
          <p:cNvPicPr>
            <a:picLocks noChangeAspect="1"/>
          </p:cNvPicPr>
          <p:nvPr/>
        </p:nvPicPr>
        <p:blipFill>
          <a:blip r:embed="rId2"/>
          <a:stretch>
            <a:fillRect/>
          </a:stretch>
        </p:blipFill>
        <p:spPr>
          <a:xfrm>
            <a:off x="365760" y="10241280"/>
            <a:ext cx="3200400" cy="3200400"/>
          </a:xfrm>
          <a:prstGeom prst="rect">
            <a:avLst/>
          </a:prstGeom>
        </p:spPr>
      </p:pic>
      <p:sp>
        <p:nvSpPr>
          <p:cNvPr id="8" name="TextBox 7"/>
          <p:cNvSpPr txBox="1"/>
          <p:nvPr/>
        </p:nvSpPr>
        <p:spPr>
          <a:xfrm>
            <a:off x="3840480" y="10515600"/>
            <a:ext cx="4114800" cy="2743200"/>
          </a:xfrm>
          <a:prstGeom prst="rect">
            <a:avLst/>
          </a:prstGeom>
          <a:noFill/>
        </p:spPr>
        <p:txBody>
          <a:bodyPr wrap="square">
            <a:spAutoFit/>
          </a:bodyPr>
          <a:lstStyle/>
          <a:p>
            <a:pPr algn="l"/>
            <a:r>
              <a:rPr sz="3600" b="1">
                <a:solidFill>
                  <a:srgbClr val="FFFFFF"/>
                </a:solidFill>
                <a:latin typeface="Georgia"/>
              </a:rPr>
              <a:t>Scan the
QR Code</a:t>
            </a:r>
          </a:p>
          <a:p>
            <a:pPr algn="l">
              <a:spcBef>
                <a:spcPts val="1600"/>
              </a:spcBef>
            </a:pPr>
            <a:r>
              <a:rPr sz="1200" b="1">
                <a:solidFill>
                  <a:srgbClr val="28A0F0"/>
                </a:solidFill>
              </a:rPr>
              <a:t>https://staytheway.com/teachings/romans-8/quiz.html</a:t>
            </a:r>
          </a:p>
        </p:txBody>
      </p:sp>
      <p:sp>
        <p:nvSpPr>
          <p:cNvPr id="9" name="TextBox 8"/>
          <p:cNvSpPr txBox="1"/>
          <p:nvPr/>
        </p:nvSpPr>
        <p:spPr>
          <a:xfrm>
            <a:off x="274320" y="14127480"/>
            <a:ext cx="7680960" cy="502920"/>
          </a:xfrm>
          <a:prstGeom prst="rect">
            <a:avLst/>
          </a:prstGeom>
          <a:noFill/>
        </p:spPr>
        <p:txBody>
          <a:bodyPr wrap="none" anchor="ctr">
            <a:spAutoFit/>
          </a:bodyPr>
          <a:lstStyle/>
          <a:p>
            <a:pPr algn="ctr"/>
            <a:r>
              <a:rPr sz="1100" b="1">
                <a:solidFill>
                  <a:srgbClr val="000014"/>
                </a:solidFill>
              </a:rPr>
              <a:t>STAYTHEWAY MINISTRY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